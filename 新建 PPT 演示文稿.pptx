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31"/>
  </p:notesMasterIdLst>
  <p:sldIdLst>
    <p:sldId id="256" r:id="rId4"/>
    <p:sldId id="257" r:id="rId5"/>
    <p:sldId id="258" r:id="rId6"/>
    <p:sldId id="259" r:id="rId7"/>
    <p:sldId id="260" r:id="rId8"/>
    <p:sldId id="261" r:id="rId9"/>
    <p:sldId id="263" r:id="rId10"/>
    <p:sldId id="267" r:id="rId11"/>
    <p:sldId id="262" r:id="rId12"/>
    <p:sldId id="264" r:id="rId13"/>
    <p:sldId id="266" r:id="rId14"/>
    <p:sldId id="265" r:id="rId15"/>
    <p:sldId id="268" r:id="rId16"/>
    <p:sldId id="269" r:id="rId17"/>
    <p:sldId id="270" r:id="rId18"/>
    <p:sldId id="272" r:id="rId19"/>
    <p:sldId id="271" r:id="rId20"/>
    <p:sldId id="273" r:id="rId21"/>
    <p:sldId id="274" r:id="rId22"/>
    <p:sldId id="277" r:id="rId23"/>
    <p:sldId id="276" r:id="rId24"/>
    <p:sldId id="278" r:id="rId25"/>
    <p:sldId id="279" r:id="rId26"/>
    <p:sldId id="280" r:id="rId27"/>
    <p:sldId id="281" r:id="rId28"/>
    <p:sldId id="282" r:id="rId29"/>
    <p:sldId id="283" r:id="rId30"/>
    <p:sldId id="286" r:id="rId32"/>
    <p:sldId id="285" r:id="rId33"/>
    <p:sldId id="287" r:id="rId34"/>
    <p:sldId id="288" r:id="rId35"/>
    <p:sldId id="290" r:id="rId36"/>
    <p:sldId id="289" r:id="rId37"/>
    <p:sldId id="293" r:id="rId38"/>
    <p:sldId id="292" r:id="rId39"/>
    <p:sldId id="294" r:id="rId40"/>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1" userDrawn="1">
          <p15:clr>
            <a:srgbClr val="A4A3A4"/>
          </p15:clr>
        </p15:guide>
        <p15:guide id="2" pos="285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9" d="100"/>
          <a:sy n="69" d="100"/>
        </p:scale>
        <p:origin x="-138" y="-102"/>
      </p:cViewPr>
      <p:guideLst>
        <p:guide orient="horz" pos="2161"/>
        <p:guide pos="2856"/>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notesMaster" Target="notesMasters/notesMaster1.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600200"/>
            <a:ext cx="4032504"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600200"/>
            <a:ext cx="4032504"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8" name="页脚占位符 7"/>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9" name="灯片编号占位符 8"/>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4" name="页脚占位符 3"/>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5" name="灯片编号占位符 4"/>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3" name="页脚占位符 2"/>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4" name="灯片编号占位符 3"/>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5293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600200"/>
            <a:ext cx="4032504"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600200"/>
            <a:ext cx="4032504"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8" name="页脚占位符 7"/>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9" name="灯片编号占位符 8"/>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4" name="页脚占位符 3"/>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5" name="灯片编号占位符 4"/>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3" name="页脚占位符 2"/>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4" name="灯片编号占位符 3"/>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5293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标题 1025"/>
          <p:cNvSpPr>
            <a:spLocks noGrp="1"/>
          </p:cNvSpPr>
          <p:nvPr>
            <p:ph type="title"/>
          </p:nvPr>
        </p:nvSpPr>
        <p:spPr>
          <a:xfrm>
            <a:off x="457200" y="274638"/>
            <a:ext cx="8229600" cy="1143000"/>
          </a:xfrm>
          <a:prstGeom prst="rect">
            <a:avLst/>
          </a:prstGeom>
          <a:noFill/>
          <a:ln w="9525">
            <a:noFill/>
          </a:ln>
        </p:spPr>
        <p:txBody>
          <a:bodyPr anchor="ctr" anchorCtr="0"/>
          <a:p>
            <a:pPr lvl="0"/>
            <a:r>
              <a:rPr lang="zh-CN" altLang="en-US"/>
              <a:t>单击此处编辑母版标题样式</a:t>
            </a:r>
            <a:endParaRPr lang="zh-CN" altLang="en-US"/>
          </a:p>
        </p:txBody>
      </p:sp>
      <p:sp>
        <p:nvSpPr>
          <p:cNvPr id="1027" name="文本占位符 1026"/>
          <p:cNvSpPr>
            <a:spLocks noGrp="1"/>
          </p:cNvSpPr>
          <p:nvPr>
            <p:ph type="body"/>
          </p:nvPr>
        </p:nvSpPr>
        <p:spPr>
          <a:xfrm>
            <a:off x="457200" y="1600200"/>
            <a:ext cx="8229600" cy="4525963"/>
          </a:xfrm>
          <a:prstGeom prst="rect">
            <a:avLst/>
          </a:prstGeom>
          <a:noFill/>
          <a:ln w="9525">
            <a:noFill/>
          </a:ln>
        </p:spPr>
        <p:txBody>
          <a:bodyPr anchor="t" anchorCtr="0"/>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28" name="日期占位符 1027"/>
          <p:cNvSpPr>
            <a:spLocks noGrp="1"/>
          </p:cNvSpPr>
          <p:nvPr>
            <p:ph type="dt" sz="half" idx="2"/>
          </p:nvPr>
        </p:nvSpPr>
        <p:spPr>
          <a:xfrm>
            <a:off x="457200" y="6245225"/>
            <a:ext cx="2133600" cy="476250"/>
          </a:xfrm>
          <a:prstGeom prst="rect">
            <a:avLst/>
          </a:prstGeom>
          <a:noFill/>
          <a:ln w="9525">
            <a:noFill/>
          </a:ln>
        </p:spPr>
        <p:txBody>
          <a:bodyPr/>
          <a:lstStyle>
            <a:lvl1pPr>
              <a:defRPr sz="1400"/>
            </a:lvl1pPr>
          </a:lstStyle>
          <a:p>
            <a:pPr lvl="0" fontAlgn="base"/>
            <a:endParaRPr lang="zh-CN" altLang="en-US" strike="noStrike" noProof="1">
              <a:latin typeface="Arial" panose="020B0604020202020204" pitchFamily="34" charset="0"/>
            </a:endParaRPr>
          </a:p>
        </p:txBody>
      </p:sp>
      <p:sp>
        <p:nvSpPr>
          <p:cNvPr id="1029" name="页脚占位符 1028"/>
          <p:cNvSpPr>
            <a:spLocks noGrp="1"/>
          </p:cNvSpPr>
          <p:nvPr>
            <p:ph type="ftr" sz="quarter" idx="3"/>
          </p:nvPr>
        </p:nvSpPr>
        <p:spPr>
          <a:xfrm>
            <a:off x="3124200" y="6245225"/>
            <a:ext cx="2895600" cy="476250"/>
          </a:xfrm>
          <a:prstGeom prst="rect">
            <a:avLst/>
          </a:prstGeom>
          <a:noFill/>
          <a:ln w="9525">
            <a:noFill/>
          </a:ln>
        </p:spPr>
        <p:txBody>
          <a:bodyPr/>
          <a:lstStyle>
            <a:lvl1pPr algn="ctr">
              <a:defRPr sz="1400"/>
            </a:lvl1pPr>
          </a:lstStyle>
          <a:p>
            <a:pPr lvl="0" fontAlgn="base"/>
            <a:endParaRPr lang="zh-CN" altLang="en-US" strike="noStrike" noProof="1">
              <a:latin typeface="Arial" panose="020B0604020202020204" pitchFamily="34" charset="0"/>
            </a:endParaRPr>
          </a:p>
        </p:txBody>
      </p:sp>
      <p:sp>
        <p:nvSpPr>
          <p:cNvPr id="1030" name="灯片编号占位符 102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lvl1p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标题 1025"/>
          <p:cNvSpPr>
            <a:spLocks noGrp="1"/>
          </p:cNvSpPr>
          <p:nvPr>
            <p:ph type="title"/>
          </p:nvPr>
        </p:nvSpPr>
        <p:spPr>
          <a:xfrm>
            <a:off x="457200" y="274638"/>
            <a:ext cx="8229600" cy="1143000"/>
          </a:xfrm>
          <a:prstGeom prst="rect">
            <a:avLst/>
          </a:prstGeom>
          <a:noFill/>
          <a:ln w="9525">
            <a:noFill/>
          </a:ln>
        </p:spPr>
        <p:txBody>
          <a:bodyPr anchor="ctr" anchorCtr="0"/>
          <a:p>
            <a:pPr lvl="0"/>
            <a:r>
              <a:rPr lang="zh-CN" altLang="en-US"/>
              <a:t>单击此处编辑母版标题样式</a:t>
            </a:r>
            <a:endParaRPr lang="zh-CN" altLang="en-US"/>
          </a:p>
        </p:txBody>
      </p:sp>
      <p:sp>
        <p:nvSpPr>
          <p:cNvPr id="1027" name="文本占位符 1026"/>
          <p:cNvSpPr>
            <a:spLocks noGrp="1"/>
          </p:cNvSpPr>
          <p:nvPr>
            <p:ph type="body"/>
          </p:nvPr>
        </p:nvSpPr>
        <p:spPr>
          <a:xfrm>
            <a:off x="457200" y="1600200"/>
            <a:ext cx="8229600" cy="4525963"/>
          </a:xfrm>
          <a:prstGeom prst="rect">
            <a:avLst/>
          </a:prstGeom>
          <a:noFill/>
          <a:ln w="9525">
            <a:noFill/>
          </a:ln>
        </p:spPr>
        <p:txBody>
          <a:bodyPr anchor="t" anchorCtr="0"/>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28" name="日期占位符 1027"/>
          <p:cNvSpPr>
            <a:spLocks noGrp="1"/>
          </p:cNvSpPr>
          <p:nvPr>
            <p:ph type="dt" sz="half" idx="2"/>
          </p:nvPr>
        </p:nvSpPr>
        <p:spPr>
          <a:xfrm>
            <a:off x="457200" y="6245225"/>
            <a:ext cx="2133600" cy="476250"/>
          </a:xfrm>
          <a:prstGeom prst="rect">
            <a:avLst/>
          </a:prstGeom>
          <a:noFill/>
          <a:ln w="9525">
            <a:noFill/>
          </a:ln>
        </p:spPr>
        <p:txBody>
          <a:bodyPr/>
          <a:lstStyle>
            <a:lvl1pPr>
              <a:defRPr sz="1400"/>
            </a:lvl1pPr>
          </a:lstStyle>
          <a:p>
            <a:pPr lvl="0" fontAlgn="base"/>
            <a:endParaRPr lang="zh-CN" altLang="en-US" strike="noStrike" noProof="1">
              <a:latin typeface="Arial" panose="020B0604020202020204" pitchFamily="34" charset="0"/>
            </a:endParaRPr>
          </a:p>
        </p:txBody>
      </p:sp>
      <p:sp>
        <p:nvSpPr>
          <p:cNvPr id="1029" name="页脚占位符 1028"/>
          <p:cNvSpPr>
            <a:spLocks noGrp="1"/>
          </p:cNvSpPr>
          <p:nvPr>
            <p:ph type="ftr" sz="quarter" idx="3"/>
          </p:nvPr>
        </p:nvSpPr>
        <p:spPr>
          <a:xfrm>
            <a:off x="3124200" y="6245225"/>
            <a:ext cx="2895600" cy="476250"/>
          </a:xfrm>
          <a:prstGeom prst="rect">
            <a:avLst/>
          </a:prstGeom>
          <a:noFill/>
          <a:ln w="9525">
            <a:noFill/>
          </a:ln>
        </p:spPr>
        <p:txBody>
          <a:bodyPr/>
          <a:lstStyle>
            <a:lvl1pPr algn="ctr">
              <a:defRPr sz="1400"/>
            </a:lvl1pPr>
          </a:lstStyle>
          <a:p>
            <a:pPr lvl="0" fontAlgn="base"/>
            <a:endParaRPr lang="zh-CN" altLang="en-US" strike="noStrike" noProof="1">
              <a:latin typeface="Arial" panose="020B0604020202020204" pitchFamily="34" charset="0"/>
            </a:endParaRPr>
          </a:p>
        </p:txBody>
      </p:sp>
      <p:sp>
        <p:nvSpPr>
          <p:cNvPr id="1030" name="灯片编号占位符 102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lvl1p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5.png"/><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17.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9" name="标题 3073"/>
          <p:cNvSpPr>
            <a:spLocks noGrp="1"/>
          </p:cNvSpPr>
          <p:nvPr>
            <p:ph type="ctrTitle"/>
          </p:nvPr>
        </p:nvSpPr>
        <p:spPr>
          <a:xfrm>
            <a:off x="112713" y="1484313"/>
            <a:ext cx="9031287" cy="1470025"/>
          </a:xfrm>
        </p:spPr>
        <p:txBody>
          <a:bodyPr anchor="ctr" anchorCtr="0"/>
          <a:p>
            <a:pPr defTabSz="914400">
              <a:buClrTx/>
              <a:buSzTx/>
              <a:buFontTx/>
              <a:buNone/>
            </a:pPr>
            <a:r>
              <a:rPr lang="en-US" altLang="zh-CN" sz="4000" kern="1200" baseline="0">
                <a:latin typeface="Times New Roman" panose="02020603050405020304" charset="0"/>
                <a:ea typeface="+mj-ea"/>
                <a:cs typeface="+mj-cs"/>
              </a:rPr>
              <a:t>Bargaining with GPT in Alternating-Offer Games</a:t>
            </a:r>
            <a:endParaRPr lang="en-US" altLang="zh-CN" sz="4000" kern="1200" baseline="0">
              <a:latin typeface="Times New Roman" panose="02020603050405020304" charset="0"/>
              <a:ea typeface="+mj-ea"/>
              <a:cs typeface="+mj-cs"/>
            </a:endParaRPr>
          </a:p>
        </p:txBody>
      </p:sp>
      <p:sp>
        <p:nvSpPr>
          <p:cNvPr id="2050" name="副标题 3074"/>
          <p:cNvSpPr>
            <a:spLocks noGrp="1"/>
          </p:cNvSpPr>
          <p:nvPr>
            <p:ph type="subTitle" idx="1"/>
          </p:nvPr>
        </p:nvSpPr>
        <p:spPr>
          <a:xfrm>
            <a:off x="155575" y="4149725"/>
            <a:ext cx="8772525" cy="1879600"/>
          </a:xfrm>
        </p:spPr>
        <p:txBody>
          <a:bodyPr anchor="t" anchorCtr="0"/>
          <a:p>
            <a:pPr defTabSz="914400">
              <a:buClrTx/>
              <a:buSzTx/>
              <a:buFontTx/>
            </a:pPr>
            <a:r>
              <a:rPr lang="en-US" altLang="zh-CN" sz="2400" kern="1200" baseline="0">
                <a:latin typeface="Times New Roman" panose="02020603050405020304" charset="0"/>
                <a:ea typeface="+mn-ea"/>
                <a:cs typeface="+mn-cs"/>
              </a:rPr>
              <a:t>Nobuyuki Hanaki &amp; Yuhao Fu &amp; Haitao Wang</a:t>
            </a:r>
            <a:endParaRPr lang="en-US" altLang="zh-CN" sz="2400" kern="1200" baseline="0">
              <a:latin typeface="Times New Roman" panose="02020603050405020304" charset="0"/>
              <a:ea typeface="+mn-ea"/>
              <a:cs typeface="+mn-cs"/>
            </a:endParaRPr>
          </a:p>
          <a:p>
            <a:pPr defTabSz="914400">
              <a:buClrTx/>
              <a:buSzTx/>
              <a:buFontTx/>
            </a:pPr>
            <a:endParaRPr lang="en-US" altLang="zh-CN" sz="2400" kern="1200" baseline="0">
              <a:latin typeface="Times New Roman" panose="02020603050405020304" charset="0"/>
              <a:ea typeface="+mn-ea"/>
              <a:cs typeface="+mn-cs"/>
            </a:endParaRPr>
          </a:p>
          <a:p>
            <a:pPr defTabSz="914400">
              <a:buClrTx/>
              <a:buSzTx/>
              <a:buFontTx/>
            </a:pPr>
            <a:r>
              <a:rPr lang="en-US" altLang="zh-CN" sz="2400" kern="1200" baseline="0">
                <a:latin typeface="Times New Roman" panose="02020603050405020304" charset="0"/>
                <a:ea typeface="+mn-ea"/>
                <a:cs typeface="+mn-cs"/>
              </a:rPr>
              <a:t>The University of Osaka</a:t>
            </a:r>
            <a:endParaRPr lang="en-US" altLang="zh-CN" sz="2400" kern="1200" baseline="0">
              <a:latin typeface="Times New Roman" panose="02020603050405020304" charset="0"/>
              <a:ea typeface="+mn-ea"/>
              <a:cs typeface="+mn-cs"/>
            </a:endParaRPr>
          </a:p>
          <a:p>
            <a:pPr defTabSz="914400">
              <a:buClrTx/>
              <a:buSzTx/>
              <a:buFontTx/>
            </a:pPr>
            <a:endParaRPr lang="en-US" altLang="zh-CN" sz="2400" kern="1200" baseline="0">
              <a:latin typeface="Times New Roman" panose="02020603050405020304" charset="0"/>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3" name="文本框 3"/>
          <p:cNvSpPr txBox="1"/>
          <p:nvPr/>
        </p:nvSpPr>
        <p:spPr>
          <a:xfrm>
            <a:off x="30163" y="207963"/>
            <a:ext cx="5046662" cy="646112"/>
          </a:xfrm>
          <a:prstGeom prst="rect">
            <a:avLst/>
          </a:prstGeom>
          <a:noFill/>
          <a:ln w="9525">
            <a:noFill/>
          </a:ln>
        </p:spPr>
        <p:txBody>
          <a:bodyPr wrap="square" anchor="t" anchorCtr="0">
            <a:spAutoFit/>
          </a:bodyPr>
          <a:p>
            <a:r>
              <a:rPr lang="en-US" altLang="zh-CN" sz="3600">
                <a:latin typeface="Times New Roman" panose="02020603050405020304" charset="0"/>
                <a:ea typeface="宋体" panose="02010600030101010101" pitchFamily="2" charset="-122"/>
              </a:rPr>
              <a:t>Why  Important</a:t>
            </a:r>
            <a:endParaRPr lang="en-US" altLang="zh-CN" sz="3600">
              <a:latin typeface="Times New Roman" panose="02020603050405020304" charset="0"/>
              <a:ea typeface="宋体" panose="02010600030101010101" pitchFamily="2" charset="-122"/>
            </a:endParaRPr>
          </a:p>
        </p:txBody>
      </p:sp>
      <p:sp>
        <p:nvSpPr>
          <p:cNvPr id="3074" name="文本框 5"/>
          <p:cNvSpPr txBox="1"/>
          <p:nvPr/>
        </p:nvSpPr>
        <p:spPr>
          <a:xfrm>
            <a:off x="360363" y="1438275"/>
            <a:ext cx="8423275" cy="3414713"/>
          </a:xfrm>
          <a:prstGeom prst="rect">
            <a:avLst/>
          </a:prstGeom>
          <a:noFill/>
          <a:ln w="9525">
            <a:noFill/>
          </a:ln>
        </p:spPr>
        <p:txBody>
          <a:bodyPr wrap="square" anchor="t" anchorCtr="0">
            <a:spAutoFit/>
          </a:bodyPr>
          <a:p>
            <a:pPr algn="just"/>
            <a:r>
              <a:rPr lang="en-US" altLang="zh-CN" sz="2400">
                <a:latin typeface="Times New Roman" panose="02020603050405020304" charset="0"/>
                <a:ea typeface="宋体" panose="02010600030101010101" pitchFamily="2" charset="-122"/>
              </a:rPr>
              <a:t>•AI is now used to negotiate directly with people, not just to support decisions (e.g., in customer bargaining and business negotiations), so it is important to understand how humans respond when the counterpart is an AI.</a:t>
            </a:r>
            <a:endParaRPr lang="en-US" altLang="zh-CN" sz="2400">
              <a:latin typeface="Times New Roman" panose="02020603050405020304" charset="0"/>
              <a:ea typeface="宋体" panose="02010600030101010101" pitchFamily="2" charset="-122"/>
            </a:endParaRPr>
          </a:p>
          <a:p>
            <a:pPr algn="just"/>
            <a:endParaRPr lang="en-US" altLang="zh-CN" sz="2400">
              <a:latin typeface="Times New Roman" panose="02020603050405020304" charset="0"/>
              <a:ea typeface="宋体" panose="02010600030101010101" pitchFamily="2" charset="-122"/>
            </a:endParaRPr>
          </a:p>
          <a:p>
            <a:pPr algn="just"/>
            <a:endParaRPr lang="en-US" altLang="zh-CN" sz="2400">
              <a:latin typeface="Times New Roman" panose="02020603050405020304" charset="0"/>
              <a:ea typeface="宋体" panose="02010600030101010101" pitchFamily="2" charset="-122"/>
            </a:endParaRPr>
          </a:p>
          <a:p>
            <a:pPr algn="just"/>
            <a:endParaRPr lang="en-US" altLang="zh-CN" sz="2400">
              <a:latin typeface="Times New Roman" panose="02020603050405020304" charset="0"/>
              <a:ea typeface="宋体" panose="02010600030101010101" pitchFamily="2" charset="-122"/>
            </a:endParaRPr>
          </a:p>
          <a:p>
            <a:pPr algn="just"/>
            <a:r>
              <a:rPr lang="en-US" altLang="zh-CN" sz="2400">
                <a:latin typeface="Times New Roman" panose="02020603050405020304" charset="0"/>
                <a:ea typeface="宋体" panose="02010600030101010101" pitchFamily="2" charset="-122"/>
              </a:rPr>
              <a:t>•Most prior studies focus on one-shot games. we hopefully provide some interesting insights into how behavior changes over time.</a:t>
            </a:r>
            <a:endParaRPr lang="en-US" altLang="zh-CN" sz="2400">
              <a:latin typeface="Times New Roman" panose="02020603050405020304" charset="0"/>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文本框 3"/>
          <p:cNvSpPr txBox="1"/>
          <p:nvPr/>
        </p:nvSpPr>
        <p:spPr>
          <a:xfrm>
            <a:off x="119063" y="692150"/>
            <a:ext cx="8905875" cy="646113"/>
          </a:xfrm>
          <a:prstGeom prst="rect">
            <a:avLst/>
          </a:prstGeom>
          <a:noFill/>
          <a:ln w="9525">
            <a:noFill/>
          </a:ln>
        </p:spPr>
        <p:txBody>
          <a:bodyPr wrap="square" anchor="t" anchorCtr="0">
            <a:spAutoFit/>
          </a:bodyPr>
          <a:p>
            <a:pPr algn="ctr"/>
            <a:r>
              <a:rPr lang="en-US" altLang="zh-CN" sz="3600">
                <a:latin typeface="Times New Roman" panose="02020603050405020304" charset="0"/>
                <a:ea typeface="宋体" panose="02010600030101010101" pitchFamily="2" charset="-122"/>
              </a:rPr>
              <a:t>Research Question</a:t>
            </a:r>
            <a:endParaRPr lang="en-US" altLang="zh-CN" sz="3600">
              <a:latin typeface="Times New Roman" panose="02020603050405020304" charset="0"/>
              <a:ea typeface="宋体" panose="02010600030101010101" pitchFamily="2" charset="-122"/>
            </a:endParaRPr>
          </a:p>
        </p:txBody>
      </p:sp>
      <p:sp>
        <p:nvSpPr>
          <p:cNvPr id="4098" name="文本框 5"/>
          <p:cNvSpPr txBox="1"/>
          <p:nvPr/>
        </p:nvSpPr>
        <p:spPr>
          <a:xfrm>
            <a:off x="323850" y="2276475"/>
            <a:ext cx="8423275" cy="2308225"/>
          </a:xfrm>
          <a:prstGeom prst="rect">
            <a:avLst/>
          </a:prstGeom>
          <a:noFill/>
          <a:ln w="9525">
            <a:noFill/>
          </a:ln>
        </p:spPr>
        <p:txBody>
          <a:bodyPr wrap="square" anchor="t" anchorCtr="0">
            <a:spAutoFit/>
          </a:bodyPr>
          <a:p>
            <a:pPr algn="just"/>
            <a:r>
              <a:rPr lang="en-US" altLang="zh-CN" sz="2400">
                <a:latin typeface="Times New Roman" panose="02020603050405020304" charset="0"/>
                <a:ea typeface="宋体" panose="02010600030101010101" pitchFamily="2" charset="-122"/>
              </a:rPr>
              <a:t>• Do humans behave differently when bargaining with AI versus humans in an alternating-offer game?</a:t>
            </a:r>
            <a:endParaRPr lang="en-US" altLang="zh-CN" sz="2400">
              <a:latin typeface="Times New Roman" panose="02020603050405020304" charset="0"/>
              <a:ea typeface="宋体" panose="02010600030101010101" pitchFamily="2" charset="-122"/>
            </a:endParaRPr>
          </a:p>
          <a:p>
            <a:pPr algn="just"/>
            <a:endParaRPr lang="en-US" altLang="zh-CN" sz="2400">
              <a:latin typeface="Times New Roman" panose="02020603050405020304" charset="0"/>
              <a:ea typeface="宋体" panose="02010600030101010101" pitchFamily="2" charset="-122"/>
            </a:endParaRPr>
          </a:p>
          <a:p>
            <a:pPr algn="just"/>
            <a:endParaRPr lang="en-US" altLang="zh-CN" sz="2400">
              <a:latin typeface="Times New Roman" panose="02020603050405020304" charset="0"/>
              <a:ea typeface="宋体" panose="02010600030101010101" pitchFamily="2" charset="-122"/>
            </a:endParaRPr>
          </a:p>
          <a:p>
            <a:pPr algn="just"/>
            <a:r>
              <a:rPr lang="en-US" altLang="zh-CN" sz="2400">
                <a:latin typeface="Times New Roman" panose="02020603050405020304" charset="0"/>
                <a:ea typeface="宋体" panose="02010600030101010101" pitchFamily="2" charset="-122"/>
                <a:sym typeface="宋体" panose="02010600030101010101" pitchFamily="2" charset="-122"/>
              </a:rPr>
              <a:t>• </a:t>
            </a:r>
            <a:r>
              <a:rPr lang="en-US" altLang="zh-CN" sz="2400">
                <a:latin typeface="Times New Roman" panose="02020603050405020304" charset="0"/>
                <a:ea typeface="宋体" panose="02010600030101010101" pitchFamily="2" charset="-122"/>
              </a:rPr>
              <a:t>When the AI’s earnings may be linked to other players’ earnings, does this affect how humans bargain and make decisions?</a:t>
            </a:r>
            <a:endParaRPr lang="en-US" altLang="zh-CN" sz="2400">
              <a:latin typeface="Times New Roman" panose="02020603050405020304" charset="0"/>
              <a:ea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文本框 3"/>
          <p:cNvSpPr txBox="1"/>
          <p:nvPr/>
        </p:nvSpPr>
        <p:spPr>
          <a:xfrm>
            <a:off x="30163" y="207963"/>
            <a:ext cx="5046662" cy="1198562"/>
          </a:xfrm>
          <a:prstGeom prst="rect">
            <a:avLst/>
          </a:prstGeom>
          <a:noFill/>
          <a:ln w="9525">
            <a:noFill/>
          </a:ln>
        </p:spPr>
        <p:txBody>
          <a:bodyPr wrap="square" anchor="t" anchorCtr="0">
            <a:spAutoFit/>
          </a:bodyPr>
          <a:p>
            <a:r>
              <a:rPr lang="en-US" altLang="zh-CN" sz="3600">
                <a:latin typeface="Times New Roman" panose="02020603050405020304" charset="0"/>
                <a:ea typeface="宋体" panose="02010600030101010101" pitchFamily="2" charset="-122"/>
              </a:rPr>
              <a:t>Main Task</a:t>
            </a:r>
            <a:endParaRPr lang="en-US" altLang="zh-CN" sz="3600">
              <a:latin typeface="Times New Roman" panose="02020603050405020304" charset="0"/>
              <a:ea typeface="宋体" panose="02010600030101010101" pitchFamily="2" charset="-122"/>
            </a:endParaRPr>
          </a:p>
          <a:p>
            <a:endParaRPr lang="en-US" altLang="zh-CN" sz="3600">
              <a:latin typeface="Times New Roman" panose="02020603050405020304" charset="0"/>
              <a:ea typeface="宋体" panose="02010600030101010101" pitchFamily="2" charset="-122"/>
            </a:endParaRPr>
          </a:p>
        </p:txBody>
      </p:sp>
      <p:pic>
        <p:nvPicPr>
          <p:cNvPr id="2" name="图片 1" descr="未命名绘图.drawio"/>
          <p:cNvPicPr>
            <a:picLocks noChangeAspect="1"/>
          </p:cNvPicPr>
          <p:nvPr/>
        </p:nvPicPr>
        <p:blipFill>
          <a:blip r:embed="rId1"/>
          <a:stretch>
            <a:fillRect/>
          </a:stretch>
        </p:blipFill>
        <p:spPr>
          <a:xfrm>
            <a:off x="4932045" y="1484630"/>
            <a:ext cx="4129405" cy="4476115"/>
          </a:xfrm>
          <a:prstGeom prst="rect">
            <a:avLst/>
          </a:prstGeom>
        </p:spPr>
      </p:pic>
      <p:sp>
        <p:nvSpPr>
          <p:cNvPr id="3" name="文本框 2"/>
          <p:cNvSpPr txBox="1"/>
          <p:nvPr/>
        </p:nvSpPr>
        <p:spPr>
          <a:xfrm>
            <a:off x="323215" y="2348865"/>
            <a:ext cx="3985260" cy="1753235"/>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Role</a:t>
            </a:r>
            <a:r>
              <a:rPr lang="zh-CN" altLang="en-US">
                <a:latin typeface="Times New Roman" panose="02020603050405020304" charset="0"/>
                <a:cs typeface="Times New Roman" panose="02020603050405020304" charset="0"/>
              </a:rPr>
              <a:t>：</a:t>
            </a:r>
            <a:r>
              <a:rPr lang="en-US" altLang="zh-CN">
                <a:latin typeface="Times New Roman" panose="02020603050405020304" charset="0"/>
                <a:cs typeface="Times New Roman" panose="02020603050405020304" charset="0"/>
              </a:rPr>
              <a:t>P1 </a:t>
            </a:r>
            <a:r>
              <a:rPr lang="en-US" altLang="zh-CN">
                <a:latin typeface="Times New Roman" panose="02020603050405020304" charset="0"/>
                <a:cs typeface="Times New Roman" panose="02020603050405020304" charset="0"/>
              </a:rPr>
              <a:t>and P2( randomly  assigned)</a:t>
            </a:r>
            <a:endParaRPr lang="en-US" altLang="zh-CN">
              <a:latin typeface="Times New Roman" panose="02020603050405020304" charset="0"/>
              <a:cs typeface="Times New Roman" panose="02020603050405020304" charset="0"/>
            </a:endParaRPr>
          </a:p>
          <a:p>
            <a:endParaRPr lang="zh-CN" altLang="en-US">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discount rate</a:t>
            </a:r>
            <a:r>
              <a:rPr lang="zh-CN" altLang="en-US">
                <a:latin typeface="Times New Roman" panose="02020603050405020304" charset="0"/>
                <a:cs typeface="Times New Roman" panose="02020603050405020304" charset="0"/>
              </a:rPr>
              <a:t>：</a:t>
            </a:r>
            <a:r>
              <a:rPr lang="en-US" altLang="zh-CN">
                <a:latin typeface="Times New Roman" panose="02020603050405020304" charset="0"/>
                <a:cs typeface="Times New Roman" panose="02020603050405020304" charset="0"/>
              </a:rPr>
              <a:t>δ</a:t>
            </a:r>
            <a:r>
              <a:rPr lang="en-US" altLang="en-US">
                <a:latin typeface="Times New Roman" panose="02020603050405020304" charset="0"/>
                <a:cs typeface="Times New Roman" panose="02020603050405020304" charset="0"/>
              </a:rPr>
              <a:t>₁=0.6  </a:t>
            </a:r>
            <a:r>
              <a:rPr lang="en-US" altLang="zh-CN">
                <a:latin typeface="Times New Roman" panose="02020603050405020304" charset="0"/>
                <a:cs typeface="Times New Roman" panose="02020603050405020304" charset="0"/>
              </a:rPr>
              <a:t>δ</a:t>
            </a:r>
            <a:r>
              <a:rPr lang="en-US" altLang="en-US">
                <a:latin typeface="Times New Roman" panose="02020603050405020304" charset="0"/>
                <a:cs typeface="Times New Roman" panose="02020603050405020304" charset="0"/>
              </a:rPr>
              <a:t>₂=0.4</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round : 10 rounds</a:t>
            </a:r>
            <a:endParaRPr lang="en-US" altLang="en-US">
              <a:latin typeface="Times New Roman" panose="02020603050405020304" charset="0"/>
              <a:cs typeface="Times New Roman" panose="02020603050405020304" charset="0"/>
            </a:endParaRPr>
          </a:p>
          <a:p>
            <a:endParaRPr lang="en-US" altLang="zh-CN">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文本框 3"/>
          <p:cNvSpPr txBox="1"/>
          <p:nvPr/>
        </p:nvSpPr>
        <p:spPr>
          <a:xfrm>
            <a:off x="-317" y="188278"/>
            <a:ext cx="5046662" cy="1198880"/>
          </a:xfrm>
          <a:prstGeom prst="rect">
            <a:avLst/>
          </a:prstGeom>
          <a:noFill/>
          <a:ln w="9525">
            <a:noFill/>
          </a:ln>
        </p:spPr>
        <p:txBody>
          <a:bodyPr wrap="square" anchor="t" anchorCtr="0">
            <a:spAutoFit/>
          </a:bodyPr>
          <a:p>
            <a:r>
              <a:rPr lang="en-US" altLang="zh-CN" sz="3600">
                <a:latin typeface="Times New Roman" panose="02020603050405020304" charset="0"/>
                <a:ea typeface="宋体" panose="02010600030101010101" pitchFamily="2" charset="-122"/>
              </a:rPr>
              <a:t>Treatment</a:t>
            </a:r>
            <a:endParaRPr lang="en-US" altLang="zh-CN" sz="3600">
              <a:latin typeface="Times New Roman" panose="02020603050405020304" charset="0"/>
              <a:ea typeface="宋体" panose="02010600030101010101" pitchFamily="2" charset="-122"/>
            </a:endParaRPr>
          </a:p>
          <a:p>
            <a:endParaRPr lang="en-US" altLang="zh-CN" sz="3600">
              <a:latin typeface="Times New Roman" panose="02020603050405020304" charset="0"/>
              <a:ea typeface="宋体" panose="02010600030101010101" pitchFamily="2" charset="-122"/>
            </a:endParaRPr>
          </a:p>
        </p:txBody>
      </p:sp>
      <p:sp>
        <p:nvSpPr>
          <p:cNvPr id="4" name="文本框 3"/>
          <p:cNvSpPr txBox="1"/>
          <p:nvPr/>
        </p:nvSpPr>
        <p:spPr>
          <a:xfrm>
            <a:off x="395605" y="1052830"/>
            <a:ext cx="8208010" cy="5410835"/>
          </a:xfrm>
          <a:prstGeom prst="rect">
            <a:avLst/>
          </a:prstGeom>
          <a:noFill/>
        </p:spPr>
        <p:txBody>
          <a:bodyPr wrap="square" rtlCol="0">
            <a:noAutofit/>
          </a:bodyPr>
          <a:p>
            <a:r>
              <a:rPr lang="en-US" altLang="zh-CN">
                <a:latin typeface="Times New Roman" panose="02020603050405020304" charset="0"/>
                <a:cs typeface="Times New Roman" panose="02020603050405020304" charset="0"/>
              </a:rPr>
              <a:t>T1: human vs human (n = 26)</a:t>
            </a:r>
            <a:endParaRPr lang="en-US" altLang="zh-CN">
              <a:latin typeface="Times New Roman" panose="02020603050405020304" charset="0"/>
              <a:cs typeface="Times New Roman" panose="02020603050405020304" charset="0"/>
            </a:endParaRPr>
          </a:p>
          <a:p>
            <a:endParaRPr lang="en-US" altLang="zh-CN"/>
          </a:p>
          <a:p>
            <a:r>
              <a:rPr lang="en-US" altLang="zh-CN">
                <a:latin typeface="Times New Roman" panose="02020603050405020304" charset="0"/>
                <a:sym typeface="+mn-ea"/>
              </a:rPr>
              <a:t>• </a:t>
            </a:r>
            <a:r>
              <a:rPr lang="en-US" altLang="zh-CN">
                <a:latin typeface="Times New Roman" panose="02020603050405020304" charset="0"/>
                <a:cs typeface="Times New Roman" panose="02020603050405020304" charset="0"/>
              </a:rPr>
              <a:t>One of the </a:t>
            </a:r>
            <a:r>
              <a:rPr lang="en-US" altLang="zh-CN">
                <a:latin typeface="Times New Roman" panose="02020603050405020304" charset="0"/>
                <a:cs typeface="Times New Roman" panose="02020603050405020304" charset="0"/>
              </a:rPr>
              <a:t>ten rounds is randomly selected, and the points earned in that round determine the final payoff.</a:t>
            </a:r>
            <a:endParaRPr lang="en-US" altLang="zh-CN">
              <a:latin typeface="Times New Roman" panose="02020603050405020304" charset="0"/>
              <a:cs typeface="Times New Roman" panose="02020603050405020304" charset="0"/>
            </a:endParaRPr>
          </a:p>
          <a:p>
            <a:endParaRPr lang="en-US" altLang="zh-CN"/>
          </a:p>
          <a:p>
            <a:endParaRPr lang="en-US" altLang="zh-CN">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T2: human vs AI(GPT 4o)</a:t>
            </a:r>
            <a:r>
              <a:rPr lang="en-US" altLang="zh-CN">
                <a:latin typeface="Times New Roman" panose="02020603050405020304" charset="0"/>
                <a:cs typeface="Times New Roman" panose="02020603050405020304" charset="0"/>
                <a:sym typeface="+mn-ea"/>
              </a:rPr>
              <a:t>(n = 26)</a:t>
            </a:r>
            <a:endParaRPr lang="en-US" altLang="zh-CN">
              <a:latin typeface="Times New Roman" panose="02020603050405020304" charset="0"/>
              <a:cs typeface="Times New Roman" panose="02020603050405020304" charset="0"/>
              <a:sym typeface="+mn-ea"/>
            </a:endParaRPr>
          </a:p>
          <a:p>
            <a:endParaRPr lang="en-US" altLang="zh-CN">
              <a:latin typeface="Times New Roman" panose="02020603050405020304" charset="0"/>
              <a:cs typeface="Times New Roman" panose="02020603050405020304" charset="0"/>
            </a:endParaRPr>
          </a:p>
          <a:p>
            <a:r>
              <a:rPr lang="en-US" altLang="zh-CN" b="1">
                <a:latin typeface="Times New Roman" panose="02020603050405020304" charset="0"/>
                <a:cs typeface="Times New Roman" panose="02020603050405020304" charset="0"/>
              </a:rPr>
              <a:t>① </a:t>
            </a:r>
            <a:r>
              <a:rPr lang="en-US" altLang="zh-CN" b="1">
                <a:latin typeface="Times New Roman" panose="02020603050405020304" charset="0"/>
                <a:cs typeface="Times New Roman" panose="02020603050405020304" charset="0"/>
                <a:sym typeface="+mn-ea"/>
              </a:rPr>
              <a:t>One of the ten rounds is randomly selected, and the points earned in that round determine the final payoff.</a:t>
            </a:r>
            <a:endParaRPr lang="en-US" altLang="zh-CN" b="1">
              <a:latin typeface="Times New Roman" panose="02020603050405020304" charset="0"/>
              <a:cs typeface="Times New Roman" panose="02020603050405020304" charset="0"/>
            </a:endParaRPr>
          </a:p>
          <a:p>
            <a:endParaRPr lang="en-US" altLang="zh-CN">
              <a:latin typeface="Times New Roman" panose="02020603050405020304" charset="0"/>
              <a:cs typeface="Times New Roman" panose="02020603050405020304" charset="0"/>
            </a:endParaRPr>
          </a:p>
          <a:p>
            <a:r>
              <a:rPr lang="en-US" altLang="zh-CN" b="1">
                <a:solidFill>
                  <a:srgbClr val="FF0000"/>
                </a:solidFill>
                <a:latin typeface="Calibri" panose="020F0502020204030204" charset="0"/>
                <a:cs typeface="Times New Roman" panose="02020603050405020304" charset="0"/>
              </a:rPr>
              <a:t>②</a:t>
            </a:r>
            <a:r>
              <a:rPr lang="en-US" altLang="zh-CN" b="1">
                <a:solidFill>
                  <a:srgbClr val="FF0000"/>
                </a:solidFill>
                <a:latin typeface="Times New Roman" panose="02020603050405020304" charset="0"/>
                <a:cs typeface="Times New Roman" panose="02020603050405020304" charset="0"/>
              </a:rPr>
              <a:t> Payoff comes from the AI’s earnings in the same round, where the AI plays the same role (P1 or P2) against other subjects.</a:t>
            </a:r>
            <a:endParaRPr lang="en-US" altLang="zh-CN" b="1">
              <a:solidFill>
                <a:srgbClr val="FF0000"/>
              </a:solidFill>
              <a:latin typeface="Times New Roman" panose="02020603050405020304" charset="0"/>
              <a:cs typeface="Times New Roman" panose="02020603050405020304" charset="0"/>
            </a:endParaRPr>
          </a:p>
          <a:p>
            <a:endParaRPr lang="en-US" altLang="zh-CN">
              <a:latin typeface="Times New Roman" panose="02020603050405020304" charset="0"/>
              <a:cs typeface="Times New Roman" panose="02020603050405020304" charset="0"/>
            </a:endParaRPr>
          </a:p>
          <a:p>
            <a:endParaRPr lang="en-US" altLang="zh-CN">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T3:human vs  AI(GPT  4o)</a:t>
            </a:r>
            <a:r>
              <a:rPr lang="en-US" altLang="zh-CN">
                <a:latin typeface="Times New Roman" panose="02020603050405020304" charset="0"/>
                <a:cs typeface="Times New Roman" panose="02020603050405020304" charset="0"/>
                <a:sym typeface="+mn-ea"/>
              </a:rPr>
              <a:t>(n = 26)</a:t>
            </a:r>
            <a:endParaRPr lang="en-US" altLang="zh-CN">
              <a:sym typeface="+mn-ea"/>
            </a:endParaRPr>
          </a:p>
          <a:p>
            <a:endParaRPr lang="en-US" altLang="zh-CN">
              <a:sym typeface="+mn-ea"/>
            </a:endParaRPr>
          </a:p>
          <a:p>
            <a:r>
              <a:rPr lang="en-US" altLang="zh-CN">
                <a:latin typeface="Times New Roman" panose="02020603050405020304" charset="0"/>
                <a:sym typeface="+mn-ea"/>
              </a:rPr>
              <a:t>• </a:t>
            </a:r>
            <a:r>
              <a:rPr lang="en-US" altLang="zh-CN">
                <a:latin typeface="Times New Roman" panose="02020603050405020304" charset="0"/>
                <a:cs typeface="Times New Roman" panose="02020603050405020304" charset="0"/>
                <a:sym typeface="+mn-ea"/>
              </a:rPr>
              <a:t>One of the ten rounds is randomly selected, and the points earned in that round determine the final payoff.</a:t>
            </a:r>
            <a:endParaRPr lang="en-US" altLang="zh-CN">
              <a:latin typeface="Times New Roman" panose="02020603050405020304" charset="0"/>
              <a:cs typeface="Times New Roman" panose="02020603050405020304" charset="0"/>
            </a:endParaRPr>
          </a:p>
          <a:p>
            <a:endParaRPr lang="en-US" altLang="zh-CN"/>
          </a:p>
          <a:p>
            <a:endParaRPr lang="en-US" altLang="zh-C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907540" y="404495"/>
            <a:ext cx="4610735" cy="1077595"/>
          </a:xfrm>
          <a:prstGeom prst="rect">
            <a:avLst/>
          </a:prstGeom>
          <a:noFill/>
        </p:spPr>
        <p:txBody>
          <a:bodyPr wrap="square" rtlCol="0" anchor="t">
            <a:noAutofit/>
          </a:bodyPr>
          <a:p>
            <a:pPr algn="ctr"/>
            <a:r>
              <a:rPr lang="en-US" altLang="zh-CN" sz="3600">
                <a:latin typeface="Times New Roman" panose="02020603050405020304" charset="0"/>
                <a:sym typeface="+mn-ea"/>
              </a:rPr>
              <a:t>AI  Prompt</a:t>
            </a:r>
            <a:endParaRPr lang="en-US" altLang="zh-CN" sz="3600">
              <a:latin typeface="Times New Roman" panose="02020603050405020304" charset="0"/>
              <a:sym typeface="+mn-ea"/>
            </a:endParaRPr>
          </a:p>
        </p:txBody>
      </p:sp>
      <p:sp>
        <p:nvSpPr>
          <p:cNvPr id="6" name="文本框 5"/>
          <p:cNvSpPr txBox="1"/>
          <p:nvPr/>
        </p:nvSpPr>
        <p:spPr>
          <a:xfrm>
            <a:off x="179705" y="1268730"/>
            <a:ext cx="8562340" cy="4615815"/>
          </a:xfrm>
          <a:prstGeom prst="rect">
            <a:avLst/>
          </a:prstGeom>
          <a:noFill/>
        </p:spPr>
        <p:txBody>
          <a:bodyPr wrap="square" rtlCol="0">
            <a:spAutoFit/>
          </a:bodyPr>
          <a:p>
            <a:r>
              <a:rPr lang="en-US" altLang="zh-CN" sz="2400" b="1"/>
              <a:t>Proposer</a:t>
            </a:r>
            <a:r>
              <a:rPr lang="zh-CN" altLang="en-US" sz="2400" b="1"/>
              <a:t>：</a:t>
            </a:r>
            <a:endParaRPr lang="zh-CN" altLang="en-US" sz="2400" b="1"/>
          </a:p>
          <a:p>
            <a:endParaRPr lang="zh-CN" altLang="en-US"/>
          </a:p>
          <a:p>
            <a:r>
              <a:rPr lang="en-US" altLang="zh-CN">
                <a:latin typeface="Times New Roman" panose="02020603050405020304" charset="0"/>
                <a:cs typeface="Times New Roman" panose="02020603050405020304" charset="0"/>
              </a:rPr>
              <a:t>prompt = f"""You are the proposer in a 3-stage alternating-offers bargaining game over {C.ENDOWMENT} points.Goal: maximize your own discounted payoff. Your opponent is human</a:t>
            </a:r>
            <a:r>
              <a:rPr lang="zh-CN" altLang="en-US">
                <a:latin typeface="Times New Roman" panose="02020603050405020304" charset="0"/>
                <a:cs typeface="Times New Roman" panose="02020603050405020304" charset="0"/>
              </a:rPr>
              <a:t>。</a:t>
            </a:r>
            <a:endParaRPr lang="zh-CN" altLang="en-US">
              <a:latin typeface="Times New Roman" panose="02020603050405020304" charset="0"/>
              <a:cs typeface="Times New Roman" panose="02020603050405020304" charset="0"/>
            </a:endParaRPr>
          </a:p>
          <a:p>
            <a:endParaRPr lang="zh-CN" altLang="en-US">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Rules:</a:t>
            </a:r>
            <a:endParaRPr lang="en-US" altLang="zh-CN">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 You propose how many points to give to your opponent (0-{C.ENDOWMENT})</a:t>
            </a:r>
            <a:endParaRPr lang="en-US" altLang="zh-CN">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 You keep the remaining points</a:t>
            </a:r>
            <a:endParaRPr lang="en-US" altLang="zh-CN">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 If the offer is rejected, the game moves to the next stage with higher discounts</a:t>
            </a:r>
            <a:endParaRPr lang="en-US" altLang="zh-CN">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 If this is stage {C.MAX_STAGE}, this is the last chance to make a deal</a:t>
            </a:r>
            <a:endParaRPr lang="en-US" altLang="zh-CN">
              <a:latin typeface="Times New Roman" panose="02020603050405020304" charset="0"/>
              <a:cs typeface="Times New Roman" panose="02020603050405020304" charset="0"/>
            </a:endParaRPr>
          </a:p>
          <a:p>
            <a:endParaRPr lang="en-US" altLang="zh-CN">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Based on the negotiation history and current situation, what points would you offer to your opponent? </a:t>
            </a:r>
            <a:endParaRPr lang="en-US" altLang="zh-CN">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Please respond with ONLY a number between 0 and {C.ENDOWMENT}."""</a:t>
            </a:r>
            <a:endParaRPr lang="en-US" altLang="zh-CN">
              <a:latin typeface="Times New Roman" panose="02020603050405020304" charset="0"/>
              <a:cs typeface="Times New Roman" panose="02020603050405020304" charset="0"/>
            </a:endParaRPr>
          </a:p>
          <a:p>
            <a:endParaRPr lang="zh-CN" altLang="en-US">
              <a:latin typeface="Times New Roman" panose="02020603050405020304" charset="0"/>
              <a:cs typeface="Times New Roman" panose="0202060305040502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907540" y="404495"/>
            <a:ext cx="4610735" cy="1077595"/>
          </a:xfrm>
          <a:prstGeom prst="rect">
            <a:avLst/>
          </a:prstGeom>
          <a:noFill/>
        </p:spPr>
        <p:txBody>
          <a:bodyPr wrap="square" rtlCol="0" anchor="t">
            <a:noAutofit/>
          </a:bodyPr>
          <a:p>
            <a:pPr algn="ctr"/>
            <a:r>
              <a:rPr lang="en-US" altLang="zh-CN" sz="3600">
                <a:latin typeface="Times New Roman" panose="02020603050405020304" charset="0"/>
                <a:sym typeface="+mn-ea"/>
              </a:rPr>
              <a:t>AI  Prompt</a:t>
            </a:r>
            <a:endParaRPr lang="en-US" altLang="zh-CN" sz="3600">
              <a:latin typeface="Times New Roman" panose="02020603050405020304" charset="0"/>
              <a:sym typeface="+mn-ea"/>
            </a:endParaRPr>
          </a:p>
        </p:txBody>
      </p:sp>
      <p:sp>
        <p:nvSpPr>
          <p:cNvPr id="6" name="文本框 5"/>
          <p:cNvSpPr txBox="1"/>
          <p:nvPr/>
        </p:nvSpPr>
        <p:spPr>
          <a:xfrm>
            <a:off x="179705" y="1268730"/>
            <a:ext cx="8562340" cy="3784600"/>
          </a:xfrm>
          <a:prstGeom prst="rect">
            <a:avLst/>
          </a:prstGeom>
          <a:noFill/>
        </p:spPr>
        <p:txBody>
          <a:bodyPr wrap="square" rtlCol="0">
            <a:spAutoFit/>
          </a:bodyPr>
          <a:p>
            <a:r>
              <a:rPr lang="en-US" altLang="zh-CN" sz="2400" b="1"/>
              <a:t>Responder</a:t>
            </a:r>
            <a:r>
              <a:rPr lang="zh-CN" altLang="en-US" sz="2400" b="1"/>
              <a:t>：</a:t>
            </a:r>
            <a:endParaRPr lang="zh-CN" altLang="en-US" sz="2400" b="1"/>
          </a:p>
          <a:p>
            <a:endParaRPr lang="zh-CN" altLang="en-US" sz="1800"/>
          </a:p>
          <a:p>
            <a:r>
              <a:rPr lang="en-US" altLang="zh-CN" sz="1800">
                <a:latin typeface="Times New Roman" panose="02020603050405020304" charset="0"/>
                <a:cs typeface="Times New Roman" panose="02020603050405020304" charset="0"/>
              </a:rPr>
              <a:t>prompt = f"""You are playing a 3-stage alternating-offers bargaining game. Here's the situation:</a:t>
            </a:r>
            <a:endParaRPr lang="en-US" altLang="zh-CN" sz="1800">
              <a:latin typeface="Times New Roman" panose="02020603050405020304" charset="0"/>
              <a:cs typeface="Times New Roman" panose="02020603050405020304" charset="0"/>
            </a:endParaRPr>
          </a:p>
          <a:p>
            <a:endParaRPr lang="en-US" altLang="zh-CN" sz="1800">
              <a:latin typeface="Times New Roman" panose="02020603050405020304" charset="0"/>
              <a:cs typeface="Times New Roman" panose="02020603050405020304" charset="0"/>
            </a:endParaRPr>
          </a:p>
          <a:p>
            <a:endParaRPr lang="en-US" altLang="zh-CN" sz="1800">
              <a:latin typeface="Times New Roman" panose="02020603050405020304" charset="0"/>
              <a:cs typeface="Times New Roman" panose="02020603050405020304" charset="0"/>
            </a:endParaRPr>
          </a:p>
          <a:p>
            <a:r>
              <a:rPr lang="en-US" altLang="zh-CN" sz="1800">
                <a:latin typeface="Times New Roman" panose="02020603050405020304" charset="0"/>
                <a:cs typeface="Times New Roman" panose="02020603050405020304" charset="0"/>
              </a:rPr>
              <a:t>Should you ACCEPT or REJECT this offer? Consider:</a:t>
            </a:r>
            <a:endParaRPr lang="en-US" altLang="zh-CN" sz="1800">
              <a:latin typeface="Times New Roman" panose="02020603050405020304" charset="0"/>
              <a:cs typeface="Times New Roman" panose="02020603050405020304" charset="0"/>
            </a:endParaRPr>
          </a:p>
          <a:p>
            <a:r>
              <a:rPr lang="en-US" altLang="zh-CN" sz="1800">
                <a:latin typeface="Times New Roman" panose="02020603050405020304" charset="0"/>
                <a:cs typeface="Times New Roman" panose="02020603050405020304" charset="0"/>
              </a:rPr>
              <a:t>1. The discounted value you would receive now</a:t>
            </a:r>
            <a:endParaRPr lang="en-US" altLang="zh-CN" sz="1800">
              <a:latin typeface="Times New Roman" panose="02020603050405020304" charset="0"/>
              <a:cs typeface="Times New Roman" panose="02020603050405020304" charset="0"/>
            </a:endParaRPr>
          </a:p>
          <a:p>
            <a:r>
              <a:rPr lang="en-US" altLang="zh-CN" sz="1800">
                <a:latin typeface="Times New Roman" panose="02020603050405020304" charset="0"/>
                <a:cs typeface="Times New Roman" panose="02020603050405020304" charset="0"/>
              </a:rPr>
              <a:t>2. The risk of getting worse terms (or zero) if negotiations continue</a:t>
            </a:r>
            <a:endParaRPr lang="en-US" altLang="zh-CN" sz="1800">
              <a:latin typeface="Times New Roman" panose="02020603050405020304" charset="0"/>
              <a:cs typeface="Times New Roman" panose="02020603050405020304" charset="0"/>
            </a:endParaRPr>
          </a:p>
          <a:p>
            <a:r>
              <a:rPr lang="en-US" altLang="zh-CN" sz="1800">
                <a:latin typeface="Times New Roman" panose="02020603050405020304" charset="0"/>
                <a:cs typeface="Times New Roman" panose="02020603050405020304" charset="0"/>
              </a:rPr>
              <a:t>3. Strategic considerations based on the stage and negotiation history</a:t>
            </a:r>
            <a:endParaRPr lang="en-US" altLang="zh-CN" sz="1800">
              <a:latin typeface="Times New Roman" panose="02020603050405020304" charset="0"/>
              <a:cs typeface="Times New Roman" panose="02020603050405020304" charset="0"/>
            </a:endParaRPr>
          </a:p>
          <a:p>
            <a:r>
              <a:rPr lang="en-US" altLang="zh-CN" sz="1800">
                <a:latin typeface="Times New Roman" panose="02020603050405020304" charset="0"/>
                <a:cs typeface="Times New Roman" panose="02020603050405020304" charset="0"/>
              </a:rPr>
              <a:t>4. Whether the opponent is making concessions or becoming more aggressive</a:t>
            </a:r>
            <a:endParaRPr lang="en-US" altLang="zh-CN" sz="1800">
              <a:latin typeface="Times New Roman" panose="02020603050405020304" charset="0"/>
              <a:cs typeface="Times New Roman" panose="02020603050405020304" charset="0"/>
            </a:endParaRPr>
          </a:p>
          <a:p>
            <a:endParaRPr lang="en-US" altLang="zh-CN" sz="1800">
              <a:latin typeface="Times New Roman" panose="02020603050405020304" charset="0"/>
              <a:cs typeface="Times New Roman" panose="02020603050405020304" charset="0"/>
            </a:endParaRPr>
          </a:p>
          <a:p>
            <a:r>
              <a:rPr lang="en-US" altLang="zh-CN" sz="1800">
                <a:latin typeface="Times New Roman" panose="02020603050405020304" charset="0"/>
                <a:cs typeface="Times New Roman" panose="02020603050405020304" charset="0"/>
              </a:rPr>
              <a:t>Respond with ONLY one word: ACCEPT or REJECT"""</a:t>
            </a:r>
            <a:endParaRPr lang="en-US" altLang="zh-CN" sz="1800">
              <a:latin typeface="Times New Roman" panose="02020603050405020304" charset="0"/>
              <a:cs typeface="Times New Roman" panose="020206030504050203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文本框 3"/>
          <p:cNvSpPr txBox="1"/>
          <p:nvPr/>
        </p:nvSpPr>
        <p:spPr>
          <a:xfrm>
            <a:off x="179388" y="116523"/>
            <a:ext cx="5046662" cy="1198880"/>
          </a:xfrm>
          <a:prstGeom prst="rect">
            <a:avLst/>
          </a:prstGeom>
          <a:noFill/>
          <a:ln w="9525">
            <a:noFill/>
          </a:ln>
        </p:spPr>
        <p:txBody>
          <a:bodyPr wrap="square" anchor="t" anchorCtr="0">
            <a:spAutoFit/>
          </a:bodyPr>
          <a:p>
            <a:r>
              <a:rPr lang="en-US" altLang="zh-CN" sz="3600">
                <a:latin typeface="Times New Roman" panose="02020603050405020304" charset="0"/>
                <a:ea typeface="宋体" panose="02010600030101010101" pitchFamily="2" charset="-122"/>
              </a:rPr>
              <a:t>Hypothesis</a:t>
            </a:r>
            <a:endParaRPr lang="en-US" altLang="zh-CN" sz="3600">
              <a:latin typeface="Times New Roman" panose="02020603050405020304" charset="0"/>
              <a:ea typeface="宋体" panose="02010600030101010101" pitchFamily="2" charset="-122"/>
            </a:endParaRPr>
          </a:p>
          <a:p>
            <a:endParaRPr lang="en-US" altLang="zh-CN" sz="3600">
              <a:latin typeface="Times New Roman" panose="02020603050405020304" charset="0"/>
              <a:ea typeface="宋体" panose="02010600030101010101" pitchFamily="2" charset="-122"/>
            </a:endParaRPr>
          </a:p>
        </p:txBody>
      </p:sp>
      <p:sp>
        <p:nvSpPr>
          <p:cNvPr id="4" name="文本框 3"/>
          <p:cNvSpPr txBox="1"/>
          <p:nvPr/>
        </p:nvSpPr>
        <p:spPr>
          <a:xfrm>
            <a:off x="107315" y="1628775"/>
            <a:ext cx="8458200" cy="3604260"/>
          </a:xfrm>
          <a:prstGeom prst="rect">
            <a:avLst/>
          </a:prstGeom>
          <a:noFill/>
        </p:spPr>
        <p:txBody>
          <a:bodyPr wrap="square" rtlCol="0">
            <a:noAutofit/>
          </a:bodyPr>
          <a:p>
            <a:pPr algn="just"/>
            <a:r>
              <a:rPr lang="en-US" altLang="zh-CN" sz="2000" b="1">
                <a:latin typeface="Times New Roman" panose="02020603050405020304" charset="0"/>
                <a:cs typeface="Times New Roman" panose="02020603050405020304" charset="0"/>
                <a:sym typeface="+mn-ea"/>
              </a:rPr>
              <a:t>• </a:t>
            </a:r>
            <a:r>
              <a:rPr lang="en-US" altLang="zh-CN" sz="2000" b="1">
                <a:latin typeface="Times New Roman" panose="02020603050405020304" charset="0"/>
                <a:cs typeface="Times New Roman" panose="02020603050405020304" charset="0"/>
              </a:rPr>
              <a:t>When the AI keeps its own payoff, humans tend to act more selfishly: they make more unfair offers to the AI and are less willing to accept unfair offers from the AI.</a:t>
            </a:r>
            <a:endParaRPr lang="en-US" altLang="zh-CN" sz="2000" b="1">
              <a:latin typeface="Times New Roman" panose="02020603050405020304" charset="0"/>
              <a:cs typeface="Times New Roman" panose="02020603050405020304" charset="0"/>
            </a:endParaRPr>
          </a:p>
          <a:p>
            <a:pPr algn="just"/>
            <a:endParaRPr lang="en-US" altLang="zh-CN" sz="2000" b="1">
              <a:latin typeface="Times New Roman" panose="02020603050405020304" charset="0"/>
              <a:cs typeface="Times New Roman" panose="02020603050405020304" charset="0"/>
            </a:endParaRPr>
          </a:p>
          <a:p>
            <a:pPr algn="just"/>
            <a:endParaRPr lang="en-US" altLang="zh-CN" sz="2000" b="1">
              <a:latin typeface="Times New Roman" panose="02020603050405020304" charset="0"/>
              <a:cs typeface="Times New Roman" panose="02020603050405020304" charset="0"/>
            </a:endParaRPr>
          </a:p>
          <a:p>
            <a:pPr algn="just"/>
            <a:endParaRPr lang="en-US" altLang="zh-CN" sz="2000" b="1">
              <a:latin typeface="Times New Roman" panose="02020603050405020304" charset="0"/>
              <a:cs typeface="Times New Roman" panose="02020603050405020304" charset="0"/>
            </a:endParaRPr>
          </a:p>
          <a:p>
            <a:pPr algn="just"/>
            <a:r>
              <a:rPr lang="en-US" altLang="zh-CN" sz="2000" b="1">
                <a:latin typeface="Times New Roman" panose="02020603050405020304" charset="0"/>
                <a:cs typeface="Times New Roman" panose="02020603050405020304" charset="0"/>
                <a:sym typeface="+mn-ea"/>
              </a:rPr>
              <a:t>• </a:t>
            </a:r>
            <a:r>
              <a:rPr lang="en-US" altLang="zh-CN" sz="2000" b="1">
                <a:latin typeface="Times New Roman" panose="02020603050405020304" charset="0"/>
                <a:cs typeface="Times New Roman" panose="02020603050405020304" charset="0"/>
              </a:rPr>
              <a:t>When the AI’s payoff may affect other players’ payoffs, humans tend to make relatively fairer offers and are more willing to accept unequal offers.</a:t>
            </a:r>
            <a:endParaRPr lang="en-US" altLang="zh-CN" sz="2000" b="1">
              <a:latin typeface="Times New Roman" panose="02020603050405020304" charset="0"/>
              <a:cs typeface="Times New Roman" panose="02020603050405020304" charset="0"/>
            </a:endParaRPr>
          </a:p>
          <a:p>
            <a:pPr algn="just"/>
            <a:endParaRPr lang="en-US" altLang="zh-CN" sz="2000" b="1">
              <a:latin typeface="Times New Roman" panose="02020603050405020304" charset="0"/>
              <a:cs typeface="Times New Roman" panose="0202060305040502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文本框 3"/>
          <p:cNvSpPr txBox="1"/>
          <p:nvPr/>
        </p:nvSpPr>
        <p:spPr>
          <a:xfrm>
            <a:off x="251143" y="260033"/>
            <a:ext cx="5046662" cy="645160"/>
          </a:xfrm>
          <a:prstGeom prst="rect">
            <a:avLst/>
          </a:prstGeom>
          <a:noFill/>
          <a:ln w="9525">
            <a:noFill/>
          </a:ln>
        </p:spPr>
        <p:txBody>
          <a:bodyPr wrap="square" anchor="t" anchorCtr="0">
            <a:spAutoFit/>
          </a:bodyPr>
          <a:p>
            <a:r>
              <a:rPr lang="en-US" altLang="zh-CN" sz="3600">
                <a:latin typeface="Times New Roman" panose="02020603050405020304" charset="0"/>
                <a:ea typeface="宋体" panose="02010600030101010101" pitchFamily="2" charset="-122"/>
              </a:rPr>
              <a:t>Results</a:t>
            </a:r>
            <a:endParaRPr lang="en-US" altLang="zh-CN" sz="3600">
              <a:latin typeface="Times New Roman" panose="02020603050405020304" charset="0"/>
              <a:ea typeface="宋体" panose="02010600030101010101" pitchFamily="2" charset="-122"/>
            </a:endParaRPr>
          </a:p>
        </p:txBody>
      </p:sp>
      <p:pic>
        <p:nvPicPr>
          <p:cNvPr id="4" name="图片 3" descr="stage_barline"/>
          <p:cNvPicPr>
            <a:picLocks noChangeAspect="1"/>
          </p:cNvPicPr>
          <p:nvPr/>
        </p:nvPicPr>
        <p:blipFill>
          <a:blip r:embed="rId1"/>
          <a:stretch>
            <a:fillRect/>
          </a:stretch>
        </p:blipFill>
        <p:spPr>
          <a:xfrm>
            <a:off x="35560" y="1459230"/>
            <a:ext cx="9144000" cy="4392295"/>
          </a:xfrm>
          <a:prstGeom prst="rect">
            <a:avLst/>
          </a:prstGeom>
        </p:spPr>
      </p:pic>
      <p:sp>
        <p:nvSpPr>
          <p:cNvPr id="5" name="文本框 4"/>
          <p:cNvSpPr txBox="1"/>
          <p:nvPr/>
        </p:nvSpPr>
        <p:spPr>
          <a:xfrm>
            <a:off x="909320" y="5958840"/>
            <a:ext cx="7623175" cy="368300"/>
          </a:xfrm>
          <a:prstGeom prst="rect">
            <a:avLst/>
          </a:prstGeom>
          <a:noFill/>
        </p:spPr>
        <p:txBody>
          <a:bodyPr wrap="square" rtlCol="0">
            <a:spAutoFit/>
          </a:bodyPr>
          <a:p>
            <a:pPr algn="ctr"/>
            <a:r>
              <a:rPr lang="en-US" altLang="zh-CN" b="1"/>
              <a:t>Stage-End Counts by Treatment</a:t>
            </a:r>
            <a:endParaRPr lang="en-US" altLang="zh-CN" b="1"/>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文本框 3"/>
          <p:cNvSpPr txBox="1"/>
          <p:nvPr/>
        </p:nvSpPr>
        <p:spPr>
          <a:xfrm>
            <a:off x="251143" y="260033"/>
            <a:ext cx="5046662" cy="645160"/>
          </a:xfrm>
          <a:prstGeom prst="rect">
            <a:avLst/>
          </a:prstGeom>
          <a:noFill/>
          <a:ln w="9525">
            <a:noFill/>
          </a:ln>
        </p:spPr>
        <p:txBody>
          <a:bodyPr wrap="square" anchor="t" anchorCtr="0">
            <a:spAutoFit/>
          </a:bodyPr>
          <a:p>
            <a:r>
              <a:rPr lang="en-US" altLang="zh-CN" sz="3600">
                <a:latin typeface="Times New Roman" panose="02020603050405020304" charset="0"/>
                <a:ea typeface="宋体" panose="02010600030101010101" pitchFamily="2" charset="-122"/>
              </a:rPr>
              <a:t>Results</a:t>
            </a:r>
            <a:endParaRPr lang="en-US" altLang="zh-CN" sz="3600">
              <a:latin typeface="Times New Roman" panose="02020603050405020304" charset="0"/>
              <a:ea typeface="宋体" panose="02010600030101010101" pitchFamily="2" charset="-122"/>
            </a:endParaRPr>
          </a:p>
        </p:txBody>
      </p:sp>
      <p:pic>
        <p:nvPicPr>
          <p:cNvPr id="4" name="图片 3" descr="bar_line_group"/>
          <p:cNvPicPr>
            <a:picLocks noChangeAspect="1"/>
          </p:cNvPicPr>
          <p:nvPr/>
        </p:nvPicPr>
        <p:blipFill>
          <a:blip r:embed="rId1"/>
          <a:stretch>
            <a:fillRect/>
          </a:stretch>
        </p:blipFill>
        <p:spPr>
          <a:xfrm>
            <a:off x="899795" y="1268730"/>
            <a:ext cx="6863715" cy="462978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文本框 3"/>
          <p:cNvSpPr txBox="1"/>
          <p:nvPr/>
        </p:nvSpPr>
        <p:spPr>
          <a:xfrm>
            <a:off x="106998" y="-27622"/>
            <a:ext cx="5046662" cy="645160"/>
          </a:xfrm>
          <a:prstGeom prst="rect">
            <a:avLst/>
          </a:prstGeom>
          <a:noFill/>
          <a:ln w="9525">
            <a:noFill/>
          </a:ln>
        </p:spPr>
        <p:txBody>
          <a:bodyPr wrap="square" anchor="t" anchorCtr="0">
            <a:spAutoFit/>
          </a:bodyPr>
          <a:p>
            <a:r>
              <a:rPr lang="en-US" altLang="zh-CN" sz="3600">
                <a:latin typeface="Times New Roman" panose="02020603050405020304" charset="0"/>
                <a:ea typeface="宋体" panose="02010600030101010101" pitchFamily="2" charset="-122"/>
              </a:rPr>
              <a:t>Results</a:t>
            </a:r>
            <a:endParaRPr lang="en-US" altLang="zh-CN" sz="3600">
              <a:latin typeface="Times New Roman" panose="02020603050405020304" charset="0"/>
              <a:ea typeface="宋体" panose="02010600030101010101" pitchFamily="2" charset="-122"/>
            </a:endParaRPr>
          </a:p>
        </p:txBody>
      </p:sp>
      <p:pic>
        <p:nvPicPr>
          <p:cNvPr id="2" name="图片 1" descr="AI_Human_count_accept"/>
          <p:cNvPicPr>
            <a:picLocks noChangeAspect="1"/>
          </p:cNvPicPr>
          <p:nvPr/>
        </p:nvPicPr>
        <p:blipFill>
          <a:blip r:embed="rId1"/>
          <a:stretch>
            <a:fillRect/>
          </a:stretch>
        </p:blipFill>
        <p:spPr>
          <a:xfrm>
            <a:off x="899795" y="692785"/>
            <a:ext cx="7315200" cy="3268980"/>
          </a:xfrm>
          <a:prstGeom prst="rect">
            <a:avLst/>
          </a:prstGeom>
        </p:spPr>
      </p:pic>
      <p:pic>
        <p:nvPicPr>
          <p:cNvPr id="3" name="图片 2" descr="AI_Human_count_accept1"/>
          <p:cNvPicPr>
            <a:picLocks noChangeAspect="1"/>
          </p:cNvPicPr>
          <p:nvPr/>
        </p:nvPicPr>
        <p:blipFill>
          <a:blip r:embed="rId2"/>
          <a:stretch>
            <a:fillRect/>
          </a:stretch>
        </p:blipFill>
        <p:spPr>
          <a:xfrm>
            <a:off x="956310" y="3851910"/>
            <a:ext cx="7242175" cy="295021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文本框 3"/>
          <p:cNvSpPr txBox="1"/>
          <p:nvPr/>
        </p:nvSpPr>
        <p:spPr>
          <a:xfrm>
            <a:off x="35243" y="188278"/>
            <a:ext cx="5046662" cy="645160"/>
          </a:xfrm>
          <a:prstGeom prst="rect">
            <a:avLst/>
          </a:prstGeom>
          <a:noFill/>
          <a:ln w="9525">
            <a:noFill/>
          </a:ln>
        </p:spPr>
        <p:txBody>
          <a:bodyPr wrap="square" anchor="t" anchorCtr="0">
            <a:spAutoFit/>
          </a:bodyPr>
          <a:p>
            <a:r>
              <a:rPr lang="en-US" altLang="zh-CN" sz="3600">
                <a:latin typeface="Times New Roman" panose="02020603050405020304" charset="0"/>
                <a:ea typeface="宋体" panose="02010600030101010101" pitchFamily="2" charset="-122"/>
              </a:rPr>
              <a:t>Results</a:t>
            </a:r>
            <a:endParaRPr lang="en-US" altLang="zh-CN" sz="3600">
              <a:latin typeface="Times New Roman" panose="02020603050405020304" charset="0"/>
              <a:ea typeface="宋体" panose="02010600030101010101" pitchFamily="2" charset="-122"/>
            </a:endParaRPr>
          </a:p>
        </p:txBody>
      </p:sp>
      <p:sp>
        <p:nvSpPr>
          <p:cNvPr id="4" name="文本框 3"/>
          <p:cNvSpPr txBox="1"/>
          <p:nvPr/>
        </p:nvSpPr>
        <p:spPr>
          <a:xfrm>
            <a:off x="35560" y="1196975"/>
            <a:ext cx="8996680" cy="4154170"/>
          </a:xfrm>
          <a:prstGeom prst="rect">
            <a:avLst/>
          </a:prstGeom>
          <a:noFill/>
        </p:spPr>
        <p:txBody>
          <a:bodyPr wrap="square" rtlCol="0">
            <a:spAutoFit/>
          </a:bodyPr>
          <a:p>
            <a:pPr algn="just"/>
            <a:r>
              <a:rPr lang="en-US" altLang="zh-CN" sz="2400">
                <a:latin typeface="Times New Roman" panose="02020603050405020304" charset="0"/>
                <a:cs typeface="Times New Roman" panose="02020603050405020304" charset="0"/>
              </a:rPr>
              <a:t>Across all treatments, human responders (P2) almost never reject a </a:t>
            </a:r>
            <a:r>
              <a:rPr lang="en-US" altLang="zh-CN" sz="2400" b="1">
                <a:latin typeface="Times New Roman" panose="02020603050405020304" charset="0"/>
                <a:cs typeface="Times New Roman" panose="02020603050405020304" charset="0"/>
              </a:rPr>
              <a:t>50–50</a:t>
            </a:r>
            <a:r>
              <a:rPr lang="en-US" altLang="zh-CN" sz="2400">
                <a:latin typeface="Times New Roman" panose="02020603050405020304" charset="0"/>
                <a:cs typeface="Times New Roman" panose="02020603050405020304" charset="0"/>
              </a:rPr>
              <a:t> offer. In contrast, when the AI is P2, its acceptance rate for this fair offer is only </a:t>
            </a:r>
            <a:r>
              <a:rPr lang="en-US" altLang="zh-CN" sz="2400" b="1">
                <a:latin typeface="Times New Roman" panose="02020603050405020304" charset="0"/>
                <a:cs typeface="Times New Roman" panose="02020603050405020304" charset="0"/>
              </a:rPr>
              <a:t>69%</a:t>
            </a:r>
            <a:r>
              <a:rPr lang="en-US" altLang="zh-CN" sz="2400">
                <a:latin typeface="Times New Roman" panose="02020603050405020304" charset="0"/>
                <a:cs typeface="Times New Roman" panose="02020603050405020304" charset="0"/>
              </a:rPr>
              <a:t> in T2 and</a:t>
            </a:r>
            <a:r>
              <a:rPr lang="en-US" altLang="zh-CN" sz="2400" b="1">
                <a:latin typeface="Times New Roman" panose="02020603050405020304" charset="0"/>
                <a:cs typeface="Times New Roman" panose="02020603050405020304" charset="0"/>
              </a:rPr>
              <a:t> 80%</a:t>
            </a:r>
            <a:r>
              <a:rPr lang="en-US" altLang="zh-CN" sz="2400">
                <a:latin typeface="Times New Roman" panose="02020603050405020304" charset="0"/>
                <a:cs typeface="Times New Roman" panose="02020603050405020304" charset="0"/>
              </a:rPr>
              <a:t> in T3.</a:t>
            </a:r>
            <a:endParaRPr lang="en-US" altLang="zh-CN" sz="2400">
              <a:latin typeface="Times New Roman" panose="02020603050405020304" charset="0"/>
              <a:cs typeface="Times New Roman" panose="02020603050405020304" charset="0"/>
            </a:endParaRPr>
          </a:p>
          <a:p>
            <a:pPr algn="just"/>
            <a:endParaRPr lang="en-US" altLang="zh-CN" sz="2400">
              <a:latin typeface="Times New Roman" panose="02020603050405020304" charset="0"/>
              <a:cs typeface="Times New Roman" panose="02020603050405020304" charset="0"/>
            </a:endParaRPr>
          </a:p>
          <a:p>
            <a:pPr algn="just"/>
            <a:endParaRPr lang="en-US" altLang="zh-CN" sz="2400">
              <a:latin typeface="Times New Roman" panose="02020603050405020304" charset="0"/>
              <a:cs typeface="Times New Roman" panose="02020603050405020304" charset="0"/>
            </a:endParaRPr>
          </a:p>
          <a:p>
            <a:pPr algn="just"/>
            <a:endParaRPr lang="en-US" altLang="zh-CN" sz="2400">
              <a:latin typeface="Times New Roman" panose="02020603050405020304" charset="0"/>
              <a:cs typeface="Times New Roman" panose="02020603050405020304" charset="0"/>
            </a:endParaRPr>
          </a:p>
          <a:p>
            <a:pPr algn="just"/>
            <a:endParaRPr lang="en-US" altLang="zh-CN" sz="2400">
              <a:latin typeface="Times New Roman" panose="02020603050405020304" charset="0"/>
              <a:cs typeface="Times New Roman" panose="02020603050405020304" charset="0"/>
            </a:endParaRPr>
          </a:p>
          <a:p>
            <a:pPr algn="just"/>
            <a:r>
              <a:rPr lang="en-US" altLang="zh-CN" sz="2400" b="1">
                <a:latin typeface="Times New Roman" panose="02020603050405020304" charset="0"/>
                <a:sym typeface="+mn-ea"/>
              </a:rPr>
              <a:t>• </a:t>
            </a:r>
            <a:r>
              <a:rPr lang="en-US" altLang="zh-CN" sz="2400" b="1">
                <a:latin typeface="Times New Roman" panose="02020603050405020304" charset="0"/>
                <a:cs typeface="Times New Roman" panose="02020603050405020304" charset="0"/>
              </a:rPr>
              <a:t>In Stage 1, when the AI is P2 (responder), it may behave more selfishly and be stricter about offers from humans.</a:t>
            </a:r>
            <a:endParaRPr lang="en-US" altLang="zh-CN" sz="2400" b="1">
              <a:latin typeface="Times New Roman" panose="02020603050405020304" charset="0"/>
              <a:cs typeface="Times New Roman" panose="02020603050405020304" charset="0"/>
            </a:endParaRPr>
          </a:p>
          <a:p>
            <a:pPr algn="just"/>
            <a:endParaRPr lang="en-US" altLang="zh-CN" sz="2400">
              <a:latin typeface="Times New Roman" panose="02020603050405020304" charset="0"/>
              <a:cs typeface="Times New Roman" panose="02020603050405020304" charset="0"/>
            </a:endParaRPr>
          </a:p>
          <a:p>
            <a:pPr algn="just"/>
            <a:endParaRPr lang="en-US" altLang="zh-CN" sz="2400">
              <a:latin typeface="Times New Roman" panose="02020603050405020304" charset="0"/>
              <a:cs typeface="Times New Roman" panose="020206030504050203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79705" y="1124585"/>
            <a:ext cx="8884920" cy="2013585"/>
          </a:xfrm>
        </p:spPr>
        <p:txBody>
          <a:bodyPr/>
          <a:p>
            <a:pPr marL="0" indent="0">
              <a:buNone/>
            </a:pPr>
            <a:r>
              <a:rPr lang="en-US" altLang="zh-CN">
                <a:solidFill>
                  <a:srgbClr val="00B0F0"/>
                </a:solidFill>
                <a:latin typeface="Times New Roman" panose="02020603050405020304" charset="0"/>
                <a:cs typeface="Times New Roman" panose="02020603050405020304" charset="0"/>
              </a:rPr>
              <a:t>stage 1  human (P1)</a:t>
            </a:r>
            <a:endParaRPr lang="en-US" altLang="zh-CN">
              <a:solidFill>
                <a:srgbClr val="00B0F0"/>
              </a:solidFill>
              <a:latin typeface="Times New Roman" panose="02020603050405020304" charset="0"/>
              <a:cs typeface="Times New Roman" panose="02020603050405020304" charset="0"/>
            </a:endParaRPr>
          </a:p>
          <a:p>
            <a:pPr marL="0" indent="0">
              <a:buNone/>
            </a:pPr>
            <a:endParaRPr lang="en-US" altLang="zh-CN">
              <a:latin typeface="Times New Roman" panose="02020603050405020304" charset="0"/>
              <a:cs typeface="Times New Roman" panose="02020603050405020304" charset="0"/>
            </a:endParaRPr>
          </a:p>
          <a:p>
            <a:pPr marL="0" indent="0">
              <a:buNone/>
            </a:pPr>
            <a:r>
              <a:rPr lang="en-US" altLang="zh-CN" b="1" i="1">
                <a:latin typeface="Times New Roman" panose="02020603050405020304" charset="0"/>
                <a:cs typeface="Times New Roman" panose="02020603050405020304" charset="0"/>
              </a:rPr>
              <a:t>offer</a:t>
            </a:r>
            <a:r>
              <a:rPr lang="en-US" altLang="en-US" b="1" i="1">
                <a:latin typeface="Times New Roman" panose="02020603050405020304" charset="0"/>
                <a:cs typeface="Times New Roman" panose="02020603050405020304" charset="0"/>
              </a:rPr>
              <a:t>ᵢ</a:t>
            </a:r>
            <a:r>
              <a:rPr lang="en-US" altLang="zh-CN" b="1" i="1">
                <a:latin typeface="Times New Roman" panose="02020603050405020304" charset="0"/>
                <a:cs typeface="Times New Roman" panose="02020603050405020304" charset="0"/>
              </a:rPr>
              <a:t> = α</a:t>
            </a:r>
            <a:r>
              <a:rPr lang="en-US" altLang="en-US" b="1" i="1">
                <a:latin typeface="Times New Roman" panose="02020603050405020304" charset="0"/>
                <a:cs typeface="Times New Roman" panose="02020603050405020304" charset="0"/>
              </a:rPr>
              <a:t>₀</a:t>
            </a:r>
            <a:r>
              <a:rPr lang="en-US" altLang="zh-CN" b="1" i="1">
                <a:latin typeface="Times New Roman" panose="02020603050405020304" charset="0"/>
                <a:cs typeface="Times New Roman" panose="02020603050405020304" charset="0"/>
              </a:rPr>
              <a:t> + α</a:t>
            </a:r>
            <a:r>
              <a:rPr lang="en-US" altLang="en-US" b="1" i="1">
                <a:latin typeface="Times New Roman" panose="02020603050405020304" charset="0"/>
                <a:cs typeface="Times New Roman" panose="02020603050405020304" charset="0"/>
              </a:rPr>
              <a:t>₁</a:t>
            </a:r>
            <a:r>
              <a:rPr lang="en-US" altLang="zh-CN" b="1" i="1">
                <a:latin typeface="Times New Roman" panose="02020603050405020304" charset="0"/>
                <a:cs typeface="Times New Roman" panose="02020603050405020304" charset="0"/>
              </a:rPr>
              <a:t>·AI</a:t>
            </a:r>
            <a:r>
              <a:rPr lang="en-US" altLang="en-US" b="1" i="1">
                <a:latin typeface="Times New Roman" panose="02020603050405020304" charset="0"/>
                <a:cs typeface="Times New Roman" panose="02020603050405020304" charset="0"/>
              </a:rPr>
              <a:t>ᵢ</a:t>
            </a:r>
            <a:r>
              <a:rPr lang="en-US" altLang="zh-CN" b="1" i="1">
                <a:latin typeface="Times New Roman" panose="02020603050405020304" charset="0"/>
                <a:cs typeface="Times New Roman" panose="02020603050405020304" charset="0"/>
              </a:rPr>
              <a:t> + α</a:t>
            </a:r>
            <a:r>
              <a:rPr lang="en-US" altLang="en-US" b="1" i="1">
                <a:latin typeface="Times New Roman" panose="02020603050405020304" charset="0"/>
                <a:cs typeface="Times New Roman" panose="02020603050405020304" charset="0"/>
              </a:rPr>
              <a:t>₂</a:t>
            </a:r>
            <a:r>
              <a:rPr lang="en-US" altLang="zh-CN" b="1" i="1">
                <a:latin typeface="Times New Roman" panose="02020603050405020304" charset="0"/>
                <a:cs typeface="Times New Roman" panose="02020603050405020304" charset="0"/>
              </a:rPr>
              <a:t>·Transfer</a:t>
            </a:r>
            <a:r>
              <a:rPr lang="en-US" altLang="en-US" b="1" i="1">
                <a:latin typeface="Times New Roman" panose="02020603050405020304" charset="0"/>
                <a:cs typeface="Times New Roman" panose="02020603050405020304" charset="0"/>
              </a:rPr>
              <a:t>ᵢ</a:t>
            </a:r>
            <a:r>
              <a:rPr lang="en-US" altLang="zh-CN" b="1" i="1">
                <a:latin typeface="Times New Roman" panose="02020603050405020304" charset="0"/>
                <a:cs typeface="Times New Roman" panose="02020603050405020304" charset="0"/>
              </a:rPr>
              <a:t> + α</a:t>
            </a:r>
            <a:r>
              <a:rPr lang="en-US" altLang="en-US" b="1" i="1">
                <a:latin typeface="Times New Roman" panose="02020603050405020304" charset="0"/>
                <a:cs typeface="Times New Roman" panose="02020603050405020304" charset="0"/>
              </a:rPr>
              <a:t>₃</a:t>
            </a:r>
            <a:r>
              <a:rPr lang="en-US" altLang="zh-CN" b="1" i="1">
                <a:latin typeface="Times New Roman" panose="02020603050405020304" charset="0"/>
                <a:cs typeface="Times New Roman" panose="02020603050405020304" charset="0"/>
              </a:rPr>
              <a:t>·Round</a:t>
            </a:r>
            <a:r>
              <a:rPr lang="en-US" altLang="en-US" b="1" i="1">
                <a:latin typeface="Times New Roman" panose="02020603050405020304" charset="0"/>
                <a:cs typeface="Times New Roman" panose="02020603050405020304" charset="0"/>
              </a:rPr>
              <a:t>ᵢ</a:t>
            </a:r>
            <a:r>
              <a:rPr lang="en-US" altLang="zh-CN" b="1" i="1">
                <a:latin typeface="Times New Roman" panose="02020603050405020304" charset="0"/>
                <a:cs typeface="Times New Roman" panose="02020603050405020304" charset="0"/>
              </a:rPr>
              <a:t> + ε</a:t>
            </a:r>
            <a:r>
              <a:rPr lang="en-US" altLang="en-US" b="1" i="1">
                <a:latin typeface="Times New Roman" panose="02020603050405020304" charset="0"/>
                <a:cs typeface="Times New Roman" panose="02020603050405020304" charset="0"/>
              </a:rPr>
              <a:t>ᵢ</a:t>
            </a:r>
            <a:endParaRPr lang="en-US" altLang="en-US" b="1" i="1">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pPr marL="0" indent="0">
              <a:buNone/>
            </a:pPr>
            <a:endParaRPr lang="en-US" altLang="zh-CN" sz="1800">
              <a:latin typeface="Times New Roman" panose="02020603050405020304" charset="0"/>
              <a:cs typeface="Times New Roman" panose="02020603050405020304" charset="0"/>
            </a:endParaRPr>
          </a:p>
        </p:txBody>
      </p:sp>
      <p:sp>
        <p:nvSpPr>
          <p:cNvPr id="5121" name="文本框 3"/>
          <p:cNvSpPr txBox="1"/>
          <p:nvPr/>
        </p:nvSpPr>
        <p:spPr>
          <a:xfrm>
            <a:off x="179388" y="188278"/>
            <a:ext cx="5046662" cy="645160"/>
          </a:xfrm>
          <a:prstGeom prst="rect">
            <a:avLst/>
          </a:prstGeom>
          <a:noFill/>
          <a:ln w="9525">
            <a:noFill/>
          </a:ln>
        </p:spPr>
        <p:txBody>
          <a:bodyPr wrap="square" anchor="t" anchorCtr="0">
            <a:spAutoFit/>
          </a:bodyPr>
          <a:p>
            <a:r>
              <a:rPr lang="en-US" altLang="zh-CN" sz="3600">
                <a:latin typeface="Times New Roman" panose="02020603050405020304" charset="0"/>
                <a:ea typeface="宋体" panose="02010600030101010101" pitchFamily="2" charset="-122"/>
              </a:rPr>
              <a:t>Regression</a:t>
            </a:r>
            <a:endParaRPr lang="en-US" altLang="zh-CN" sz="3600">
              <a:latin typeface="Times New Roman" panose="02020603050405020304" charset="0"/>
              <a:ea typeface="宋体" panose="02010600030101010101" pitchFamily="2" charset="-122"/>
            </a:endParaRPr>
          </a:p>
        </p:txBody>
      </p:sp>
      <p:sp>
        <p:nvSpPr>
          <p:cNvPr id="4" name="文本框 3"/>
          <p:cNvSpPr txBox="1"/>
          <p:nvPr/>
        </p:nvSpPr>
        <p:spPr>
          <a:xfrm>
            <a:off x="539750" y="3284855"/>
            <a:ext cx="4959350" cy="1630045"/>
          </a:xfrm>
          <a:prstGeom prst="rect">
            <a:avLst/>
          </a:prstGeom>
          <a:noFill/>
        </p:spPr>
        <p:txBody>
          <a:bodyPr wrap="square" rtlCol="0">
            <a:spAutoFit/>
          </a:bodyPr>
          <a:p>
            <a:pPr algn="l"/>
            <a:r>
              <a:rPr lang="en-US" altLang="zh-CN" sz="2000">
                <a:latin typeface="Times New Roman" panose="02020603050405020304" charset="0"/>
                <a:sym typeface="+mn-ea"/>
              </a:rPr>
              <a:t>• </a:t>
            </a:r>
            <a:r>
              <a:rPr lang="en-US" altLang="zh-CN" sz="2000">
                <a:latin typeface="Times New Roman" panose="02020603050405020304" charset="0"/>
                <a:cs typeface="Times New Roman" panose="02020603050405020304" charset="0"/>
                <a:sym typeface="+mn-ea"/>
              </a:rPr>
              <a:t>α</a:t>
            </a:r>
            <a:r>
              <a:rPr lang="en-US" altLang="en-US" sz="2000">
                <a:latin typeface="Times New Roman" panose="02020603050405020304" charset="0"/>
                <a:cs typeface="Times New Roman" panose="02020603050405020304" charset="0"/>
                <a:sym typeface="+mn-ea"/>
              </a:rPr>
              <a:t>₀</a:t>
            </a:r>
            <a:r>
              <a:rPr lang="en-US" altLang="zh-CN" sz="2000">
                <a:latin typeface="Times New Roman" panose="02020603050405020304" charset="0"/>
                <a:cs typeface="Times New Roman" panose="02020603050405020304" charset="0"/>
                <a:sym typeface="+mn-ea"/>
              </a:rPr>
              <a:t>: baseline offer</a:t>
            </a:r>
            <a:endParaRPr lang="en-US" altLang="zh-CN" sz="2000">
              <a:latin typeface="Times New Roman" panose="02020603050405020304" charset="0"/>
              <a:cs typeface="Times New Roman" panose="02020603050405020304" charset="0"/>
            </a:endParaRPr>
          </a:p>
          <a:p>
            <a:pPr algn="l"/>
            <a:r>
              <a:rPr lang="en-US" altLang="zh-CN" sz="2000">
                <a:latin typeface="Times New Roman" panose="02020603050405020304" charset="0"/>
                <a:sym typeface="+mn-ea"/>
              </a:rPr>
              <a:t>• </a:t>
            </a:r>
            <a:r>
              <a:rPr lang="en-US" altLang="zh-CN" sz="2000">
                <a:latin typeface="Times New Roman" panose="02020603050405020304" charset="0"/>
                <a:cs typeface="Times New Roman" panose="02020603050405020304" charset="0"/>
                <a:sym typeface="+mn-ea"/>
              </a:rPr>
              <a:t>α</a:t>
            </a:r>
            <a:r>
              <a:rPr lang="en-US" altLang="en-US" sz="2000">
                <a:latin typeface="Times New Roman" panose="02020603050405020304" charset="0"/>
                <a:cs typeface="Times New Roman" panose="02020603050405020304" charset="0"/>
                <a:sym typeface="+mn-ea"/>
              </a:rPr>
              <a:t>₁</a:t>
            </a:r>
            <a:r>
              <a:rPr lang="en-US" altLang="zh-CN" sz="2000">
                <a:latin typeface="Times New Roman" panose="02020603050405020304" charset="0"/>
                <a:cs typeface="Times New Roman" panose="02020603050405020304" charset="0"/>
                <a:sym typeface="+mn-ea"/>
              </a:rPr>
              <a:t> (AI):effect of AI vs human opponent</a:t>
            </a:r>
            <a:endParaRPr lang="en-US" altLang="zh-CN" sz="2000">
              <a:latin typeface="Times New Roman" panose="02020603050405020304" charset="0"/>
              <a:cs typeface="Times New Roman" panose="02020603050405020304" charset="0"/>
            </a:endParaRPr>
          </a:p>
          <a:p>
            <a:pPr algn="l"/>
            <a:r>
              <a:rPr lang="en-US" altLang="zh-CN" sz="2000">
                <a:latin typeface="Times New Roman" panose="02020603050405020304" charset="0"/>
                <a:sym typeface="+mn-ea"/>
              </a:rPr>
              <a:t>• </a:t>
            </a:r>
            <a:r>
              <a:rPr lang="en-US" altLang="zh-CN" sz="2000">
                <a:latin typeface="Times New Roman" panose="02020603050405020304" charset="0"/>
                <a:cs typeface="Times New Roman" panose="02020603050405020304" charset="0"/>
                <a:sym typeface="+mn-ea"/>
              </a:rPr>
              <a:t>α</a:t>
            </a:r>
            <a:r>
              <a:rPr lang="en-US" altLang="en-US" sz="2000">
                <a:latin typeface="Times New Roman" panose="02020603050405020304" charset="0"/>
                <a:cs typeface="Times New Roman" panose="02020603050405020304" charset="0"/>
                <a:sym typeface="+mn-ea"/>
              </a:rPr>
              <a:t>₂</a:t>
            </a:r>
            <a:r>
              <a:rPr lang="en-US" altLang="zh-CN" sz="2000">
                <a:latin typeface="Times New Roman" panose="02020603050405020304" charset="0"/>
                <a:cs typeface="Times New Roman" panose="02020603050405020304" charset="0"/>
                <a:sym typeface="+mn-ea"/>
              </a:rPr>
              <a:t> (Transfer): effect of transfer condition</a:t>
            </a:r>
            <a:endParaRPr lang="en-US" altLang="zh-CN" sz="2000">
              <a:latin typeface="Times New Roman" panose="02020603050405020304" charset="0"/>
              <a:cs typeface="Times New Roman" panose="02020603050405020304" charset="0"/>
            </a:endParaRPr>
          </a:p>
          <a:p>
            <a:pPr algn="l"/>
            <a:r>
              <a:rPr lang="en-US" altLang="zh-CN" sz="2000">
                <a:latin typeface="Times New Roman" panose="02020603050405020304" charset="0"/>
                <a:sym typeface="+mn-ea"/>
              </a:rPr>
              <a:t>• </a:t>
            </a:r>
            <a:r>
              <a:rPr lang="en-US" altLang="zh-CN" sz="2000">
                <a:latin typeface="Times New Roman" panose="02020603050405020304" charset="0"/>
                <a:cs typeface="Times New Roman" panose="02020603050405020304" charset="0"/>
                <a:sym typeface="+mn-ea"/>
              </a:rPr>
              <a:t>α</a:t>
            </a:r>
            <a:r>
              <a:rPr lang="en-US" altLang="en-US" sz="2000">
                <a:latin typeface="Times New Roman" panose="02020603050405020304" charset="0"/>
                <a:cs typeface="Times New Roman" panose="02020603050405020304" charset="0"/>
                <a:sym typeface="+mn-ea"/>
              </a:rPr>
              <a:t>₃</a:t>
            </a:r>
            <a:r>
              <a:rPr lang="en-US" altLang="zh-CN" sz="2000">
                <a:latin typeface="Times New Roman" panose="02020603050405020304" charset="0"/>
                <a:cs typeface="Times New Roman" panose="02020603050405020304" charset="0"/>
                <a:sym typeface="+mn-ea"/>
              </a:rPr>
              <a:t> (Round): change per round (time trend)</a:t>
            </a:r>
            <a:endParaRPr lang="en-US" altLang="zh-CN" sz="2000">
              <a:latin typeface="Times New Roman" panose="02020603050405020304" charset="0"/>
              <a:cs typeface="Times New Roman" panose="02020603050405020304" charset="0"/>
            </a:endParaRPr>
          </a:p>
          <a:p>
            <a:endParaRPr lang="zh-CN" altLang="en-US" sz="2000"/>
          </a:p>
        </p:txBody>
      </p:sp>
      <p:sp>
        <p:nvSpPr>
          <p:cNvPr id="5" name="文本框 4"/>
          <p:cNvSpPr txBox="1"/>
          <p:nvPr/>
        </p:nvSpPr>
        <p:spPr>
          <a:xfrm>
            <a:off x="466725" y="5445125"/>
            <a:ext cx="5105400" cy="706755"/>
          </a:xfrm>
          <a:prstGeom prst="rect">
            <a:avLst/>
          </a:prstGeom>
          <a:noFill/>
        </p:spPr>
        <p:txBody>
          <a:bodyPr wrap="square" rtlCol="0">
            <a:spAutoFit/>
          </a:bodyPr>
          <a:p>
            <a:r>
              <a:rPr lang="en-US" altLang="zh-CN" sz="2000">
                <a:latin typeface="Times New Roman" panose="02020603050405020304" charset="0"/>
                <a:cs typeface="Times New Roman" panose="02020603050405020304" charset="0"/>
              </a:rPr>
              <a:t>AI = 1 for T2/T3, 0 for T1 (human opponent).</a:t>
            </a:r>
            <a:endParaRPr lang="en-US" altLang="zh-CN" sz="2000">
              <a:latin typeface="Times New Roman" panose="02020603050405020304" charset="0"/>
              <a:cs typeface="Times New Roman" panose="02020603050405020304" charset="0"/>
            </a:endParaRPr>
          </a:p>
          <a:p>
            <a:r>
              <a:rPr lang="en-US" altLang="zh-CN" sz="2000">
                <a:latin typeface="Times New Roman" panose="02020603050405020304" charset="0"/>
                <a:cs typeface="Times New Roman" panose="02020603050405020304" charset="0"/>
              </a:rPr>
              <a:t>Transfer = 1 for T2, 0 for T3.</a:t>
            </a:r>
            <a:endParaRPr lang="en-US" altLang="zh-CN" sz="2000">
              <a:latin typeface="Times New Roman" panose="02020603050405020304" charset="0"/>
              <a:cs typeface="Times New Roman" panose="020206030504050203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文本框 3"/>
          <p:cNvSpPr txBox="1"/>
          <p:nvPr/>
        </p:nvSpPr>
        <p:spPr>
          <a:xfrm>
            <a:off x="179388" y="188278"/>
            <a:ext cx="5046662" cy="645160"/>
          </a:xfrm>
          <a:prstGeom prst="rect">
            <a:avLst/>
          </a:prstGeom>
          <a:noFill/>
          <a:ln w="9525">
            <a:noFill/>
          </a:ln>
        </p:spPr>
        <p:txBody>
          <a:bodyPr wrap="square" anchor="t" anchorCtr="0">
            <a:spAutoFit/>
          </a:bodyPr>
          <a:p>
            <a:r>
              <a:rPr lang="en-US" altLang="zh-CN" sz="3600">
                <a:latin typeface="Times New Roman" panose="02020603050405020304" charset="0"/>
                <a:ea typeface="宋体" panose="02010600030101010101" pitchFamily="2" charset="-122"/>
              </a:rPr>
              <a:t>Regression</a:t>
            </a:r>
            <a:endParaRPr lang="en-US" altLang="zh-CN" sz="3600">
              <a:latin typeface="Times New Roman" panose="02020603050405020304" charset="0"/>
              <a:ea typeface="宋体" panose="02010600030101010101" pitchFamily="2" charset="-122"/>
            </a:endParaRPr>
          </a:p>
        </p:txBody>
      </p:sp>
      <p:pic>
        <p:nvPicPr>
          <p:cNvPr id="8" name="图片 7"/>
          <p:cNvPicPr>
            <a:picLocks noChangeAspect="1"/>
          </p:cNvPicPr>
          <p:nvPr/>
        </p:nvPicPr>
        <p:blipFill>
          <a:blip r:embed="rId1"/>
          <a:stretch>
            <a:fillRect/>
          </a:stretch>
        </p:blipFill>
        <p:spPr>
          <a:xfrm>
            <a:off x="1979930" y="980440"/>
            <a:ext cx="4840605" cy="3783965"/>
          </a:xfrm>
          <a:prstGeom prst="rect">
            <a:avLst/>
          </a:prstGeom>
        </p:spPr>
      </p:pic>
      <p:sp>
        <p:nvSpPr>
          <p:cNvPr id="2" name="文本框 1"/>
          <p:cNvSpPr txBox="1"/>
          <p:nvPr/>
        </p:nvSpPr>
        <p:spPr>
          <a:xfrm>
            <a:off x="330200" y="5125720"/>
            <a:ext cx="8418195" cy="645160"/>
          </a:xfrm>
          <a:prstGeom prst="rect">
            <a:avLst/>
          </a:prstGeom>
          <a:noFill/>
        </p:spPr>
        <p:txBody>
          <a:bodyPr wrap="square" rtlCol="0">
            <a:spAutoFit/>
          </a:bodyPr>
          <a:p>
            <a:pPr algn="just"/>
            <a:r>
              <a:rPr lang="en-US" altLang="zh-CN">
                <a:latin typeface="Times New Roman" panose="02020603050405020304" charset="0"/>
                <a:cs typeface="Times New Roman" panose="02020603050405020304" charset="0"/>
              </a:rPr>
              <a:t>We use two-sample </a:t>
            </a:r>
            <a:r>
              <a:rPr lang="en-US" altLang="zh-CN" b="1">
                <a:latin typeface="Times New Roman" panose="02020603050405020304" charset="0"/>
                <a:cs typeface="Times New Roman" panose="02020603050405020304" charset="0"/>
              </a:rPr>
              <a:t>KS tests</a:t>
            </a:r>
            <a:r>
              <a:rPr lang="en-US" altLang="zh-CN">
                <a:latin typeface="Times New Roman" panose="02020603050405020304" charset="0"/>
                <a:cs typeface="Times New Roman" panose="02020603050405020304" charset="0"/>
              </a:rPr>
              <a:t> to compare the distribution of offers between groups. The results are generally consistent with the main findings.</a:t>
            </a:r>
            <a:endParaRPr lang="en-US" altLang="zh-CN">
              <a:latin typeface="Times New Roman" panose="02020603050405020304" charset="0"/>
              <a:cs typeface="Times New Roman" panose="02020603050405020304" charset="0"/>
            </a:endParaRPr>
          </a:p>
        </p:txBody>
      </p:sp>
      <p:sp>
        <p:nvSpPr>
          <p:cNvPr id="3" name="文本框 2"/>
          <p:cNvSpPr txBox="1"/>
          <p:nvPr/>
        </p:nvSpPr>
        <p:spPr>
          <a:xfrm>
            <a:off x="1577340" y="5847080"/>
            <a:ext cx="6091555" cy="1198880"/>
          </a:xfrm>
          <a:prstGeom prst="rect">
            <a:avLst/>
          </a:prstGeom>
          <a:noFill/>
        </p:spPr>
        <p:txBody>
          <a:bodyPr wrap="square" rtlCol="0">
            <a:spAutoFit/>
          </a:bodyPr>
          <a:p>
            <a:r>
              <a:rPr lang="en-US" altLang="zh-CN">
                <a:latin typeface="Times New Roman" panose="02020603050405020304" charset="0"/>
                <a:sym typeface="+mn-ea"/>
              </a:rPr>
              <a:t>• T1 vs T3(AI):  </a:t>
            </a:r>
            <a:r>
              <a:rPr lang="en-US" altLang="zh-CN">
                <a:latin typeface="Times New Roman" panose="02020603050405020304" charset="0"/>
                <a:sym typeface="+mn-ea"/>
              </a:rPr>
              <a:t>KS  D = 0.092308, p-value = 0.6369</a:t>
            </a:r>
            <a:endParaRPr lang="en-US" altLang="zh-CN">
              <a:latin typeface="Times New Roman" panose="02020603050405020304" charset="0"/>
              <a:sym typeface="+mn-ea"/>
            </a:endParaRPr>
          </a:p>
          <a:p>
            <a:endParaRPr lang="en-US" altLang="zh-CN">
              <a:latin typeface="Times New Roman" panose="02020603050405020304" charset="0"/>
              <a:sym typeface="+mn-ea"/>
            </a:endParaRPr>
          </a:p>
          <a:p>
            <a:r>
              <a:rPr lang="en-US" altLang="zh-CN">
                <a:latin typeface="Times New Roman" panose="02020603050405020304" charset="0"/>
                <a:sym typeface="+mn-ea"/>
              </a:rPr>
              <a:t>• </a:t>
            </a:r>
            <a:r>
              <a:rPr lang="en-US" altLang="zh-CN">
                <a:latin typeface="Times New Roman" panose="02020603050405020304" charset="0"/>
                <a:cs typeface="Times New Roman" panose="02020603050405020304" charset="0"/>
                <a:sym typeface="+mn-ea"/>
              </a:rPr>
              <a:t>T2 vs  T3(Transfer):  </a:t>
            </a:r>
            <a:r>
              <a:rPr lang="en-US" altLang="zh-CN">
                <a:latin typeface="Times New Roman" panose="02020603050405020304" charset="0"/>
                <a:cs typeface="Times New Roman" panose="02020603050405020304" charset="0"/>
                <a:sym typeface="+mn-ea"/>
              </a:rPr>
              <a:t>KS  </a:t>
            </a:r>
            <a:r>
              <a:rPr lang="en-US" altLang="zh-CN">
                <a:latin typeface="Times New Roman" panose="02020603050405020304" charset="0"/>
                <a:cs typeface="Times New Roman" panose="02020603050405020304" charset="0"/>
              </a:rPr>
              <a:t>D = 0.069231, p-value = 0.9144</a:t>
            </a:r>
            <a:endParaRPr lang="en-US" altLang="zh-CN">
              <a:latin typeface="Times New Roman" panose="02020603050405020304" charset="0"/>
              <a:cs typeface="Times New Roman" panose="02020603050405020304" charset="0"/>
            </a:endParaRPr>
          </a:p>
          <a:p>
            <a:endParaRPr lang="en-US" altLang="zh-CN">
              <a:latin typeface="Times New Roman" panose="02020603050405020304" charset="0"/>
              <a:cs typeface="Times New Roman" panose="02020603050405020304" charset="0"/>
            </a:endParaRPr>
          </a:p>
        </p:txBody>
      </p:sp>
      <p:sp>
        <p:nvSpPr>
          <p:cNvPr id="4" name="文本框 3"/>
          <p:cNvSpPr txBox="1"/>
          <p:nvPr/>
        </p:nvSpPr>
        <p:spPr>
          <a:xfrm>
            <a:off x="2796540" y="4833620"/>
            <a:ext cx="3143885" cy="368300"/>
          </a:xfrm>
          <a:prstGeom prst="rect">
            <a:avLst/>
          </a:prstGeom>
          <a:noFill/>
        </p:spPr>
        <p:txBody>
          <a:bodyPr wrap="square" rtlCol="0">
            <a:spAutoFit/>
          </a:bodyPr>
          <a:p>
            <a:pPr algn="ctr"/>
            <a:r>
              <a:rPr lang="en-US" altLang="zh-CN" b="1"/>
              <a:t>n</a:t>
            </a:r>
            <a:r>
              <a:rPr lang="en-US" altLang="ja-JP" b="1"/>
              <a:t>=390</a:t>
            </a:r>
            <a:endParaRPr lang="en-US" altLang="ja-JP" b="1"/>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文本框 3"/>
          <p:cNvSpPr txBox="1"/>
          <p:nvPr/>
        </p:nvSpPr>
        <p:spPr>
          <a:xfrm>
            <a:off x="179388" y="188278"/>
            <a:ext cx="5046662" cy="645160"/>
          </a:xfrm>
          <a:prstGeom prst="rect">
            <a:avLst/>
          </a:prstGeom>
          <a:noFill/>
          <a:ln w="9525">
            <a:noFill/>
          </a:ln>
        </p:spPr>
        <p:txBody>
          <a:bodyPr wrap="square" anchor="t" anchorCtr="0">
            <a:spAutoFit/>
          </a:bodyPr>
          <a:p>
            <a:r>
              <a:rPr lang="en-US" altLang="zh-CN" sz="3600">
                <a:latin typeface="Times New Roman" panose="02020603050405020304" charset="0"/>
                <a:ea typeface="宋体" panose="02010600030101010101" pitchFamily="2" charset="-122"/>
              </a:rPr>
              <a:t>Regression</a:t>
            </a:r>
            <a:endParaRPr lang="en-US" altLang="zh-CN" sz="3600">
              <a:latin typeface="Times New Roman" panose="02020603050405020304" charset="0"/>
              <a:ea typeface="宋体" panose="02010600030101010101" pitchFamily="2" charset="-122"/>
            </a:endParaRPr>
          </a:p>
        </p:txBody>
      </p:sp>
      <p:sp>
        <p:nvSpPr>
          <p:cNvPr id="4" name="文本框 3"/>
          <p:cNvSpPr txBox="1"/>
          <p:nvPr/>
        </p:nvSpPr>
        <p:spPr>
          <a:xfrm>
            <a:off x="251460" y="1484630"/>
            <a:ext cx="8284210" cy="922020"/>
          </a:xfrm>
          <a:prstGeom prst="rect">
            <a:avLst/>
          </a:prstGeom>
          <a:noFill/>
        </p:spPr>
        <p:txBody>
          <a:bodyPr wrap="square" rtlCol="0">
            <a:spAutoFit/>
          </a:bodyPr>
          <a:p>
            <a:pPr algn="just"/>
            <a:r>
              <a:rPr lang="en-US" altLang="zh-CN">
                <a:latin typeface="Times New Roman" panose="02020603050405020304" charset="0"/>
                <a:cs typeface="Times New Roman" panose="02020603050405020304" charset="0"/>
              </a:rPr>
              <a:t>However, in the questionnaire we asked: “Does knowing your opponent is an AI affect your decisions?” Most participants in T2 and T3 answered that it has some effect.</a:t>
            </a:r>
            <a:endParaRPr lang="en-US" altLang="zh-CN">
              <a:latin typeface="Times New Roman" panose="02020603050405020304" charset="0"/>
              <a:cs typeface="Times New Roman" panose="02020603050405020304" charset="0"/>
            </a:endParaRPr>
          </a:p>
          <a:p>
            <a:pPr algn="just"/>
            <a:endParaRPr lang="en-US" altLang="zh-CN">
              <a:latin typeface="Times New Roman" panose="02020603050405020304" charset="0"/>
              <a:cs typeface="Times New Roman" panose="02020603050405020304" charset="0"/>
            </a:endParaRPr>
          </a:p>
        </p:txBody>
      </p:sp>
      <p:pic>
        <p:nvPicPr>
          <p:cNvPr id="5" name="图片 4" descr="Rplot"/>
          <p:cNvPicPr>
            <a:picLocks noChangeAspect="1"/>
          </p:cNvPicPr>
          <p:nvPr/>
        </p:nvPicPr>
        <p:blipFill>
          <a:blip r:embed="rId1"/>
          <a:stretch>
            <a:fillRect/>
          </a:stretch>
        </p:blipFill>
        <p:spPr>
          <a:xfrm>
            <a:off x="1115695" y="2406650"/>
            <a:ext cx="6576060" cy="3901440"/>
          </a:xfrm>
          <a:prstGeom prst="rect">
            <a:avLst/>
          </a:prstGeom>
        </p:spPr>
      </p:pic>
      <p:sp>
        <p:nvSpPr>
          <p:cNvPr id="3" name="文本框 2"/>
          <p:cNvSpPr txBox="1"/>
          <p:nvPr/>
        </p:nvSpPr>
        <p:spPr>
          <a:xfrm>
            <a:off x="2987675" y="6165215"/>
            <a:ext cx="3143885" cy="368300"/>
          </a:xfrm>
          <a:prstGeom prst="rect">
            <a:avLst/>
          </a:prstGeom>
          <a:noFill/>
        </p:spPr>
        <p:txBody>
          <a:bodyPr wrap="square" rtlCol="0">
            <a:spAutoFit/>
          </a:bodyPr>
          <a:p>
            <a:pPr algn="ctr"/>
            <a:r>
              <a:rPr lang="en-US" altLang="zh-CN" b="1"/>
              <a:t>n</a:t>
            </a:r>
            <a:r>
              <a:rPr lang="en-US" altLang="ja-JP" b="1"/>
              <a:t>=52</a:t>
            </a:r>
            <a:endParaRPr lang="en-US" altLang="ja-JP" b="1"/>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文本框 3"/>
          <p:cNvSpPr txBox="1"/>
          <p:nvPr/>
        </p:nvSpPr>
        <p:spPr>
          <a:xfrm>
            <a:off x="179388" y="188278"/>
            <a:ext cx="5046662" cy="645160"/>
          </a:xfrm>
          <a:prstGeom prst="rect">
            <a:avLst/>
          </a:prstGeom>
          <a:noFill/>
          <a:ln w="9525">
            <a:noFill/>
          </a:ln>
        </p:spPr>
        <p:txBody>
          <a:bodyPr wrap="square" anchor="t" anchorCtr="0">
            <a:spAutoFit/>
          </a:bodyPr>
          <a:p>
            <a:r>
              <a:rPr lang="en-US" altLang="zh-CN" sz="3600">
                <a:latin typeface="Times New Roman" panose="02020603050405020304" charset="0"/>
                <a:ea typeface="宋体" panose="02010600030101010101" pitchFamily="2" charset="-122"/>
              </a:rPr>
              <a:t>Regression</a:t>
            </a:r>
            <a:endParaRPr lang="en-US" altLang="zh-CN" sz="3600">
              <a:latin typeface="Times New Roman" panose="02020603050405020304" charset="0"/>
              <a:ea typeface="宋体" panose="02010600030101010101" pitchFamily="2" charset="-122"/>
            </a:endParaRPr>
          </a:p>
        </p:txBody>
      </p:sp>
      <p:sp>
        <p:nvSpPr>
          <p:cNvPr id="4" name="文本框 3"/>
          <p:cNvSpPr txBox="1"/>
          <p:nvPr/>
        </p:nvSpPr>
        <p:spPr>
          <a:xfrm>
            <a:off x="429895" y="1052830"/>
            <a:ext cx="8284210" cy="645160"/>
          </a:xfrm>
          <a:prstGeom prst="rect">
            <a:avLst/>
          </a:prstGeom>
          <a:noFill/>
        </p:spPr>
        <p:txBody>
          <a:bodyPr wrap="square" rtlCol="0">
            <a:spAutoFit/>
          </a:bodyPr>
          <a:p>
            <a:pPr algn="just"/>
            <a:r>
              <a:rPr lang="en-US" altLang="zh-CN" sz="1800">
                <a:latin typeface="Times New Roman" panose="02020603050405020304" charset="0"/>
                <a:cs typeface="Times New Roman" panose="02020603050405020304" charset="0"/>
              </a:rPr>
              <a:t>So, we ran separate regressions for </a:t>
            </a:r>
            <a:r>
              <a:rPr lang="en-US" altLang="zh-CN" sz="1800" b="1">
                <a:latin typeface="Times New Roman" panose="02020603050405020304" charset="0"/>
                <a:cs typeface="Times New Roman" panose="02020603050405020304" charset="0"/>
              </a:rPr>
              <a:t>the first five rounds</a:t>
            </a:r>
            <a:r>
              <a:rPr lang="en-US" altLang="zh-CN" sz="1800">
                <a:latin typeface="Times New Roman" panose="02020603050405020304" charset="0"/>
                <a:cs typeface="Times New Roman" panose="02020603050405020304" charset="0"/>
              </a:rPr>
              <a:t> and </a:t>
            </a:r>
            <a:r>
              <a:rPr lang="en-US" altLang="zh-CN" sz="1800" b="1">
                <a:latin typeface="Times New Roman" panose="02020603050405020304" charset="0"/>
                <a:cs typeface="Times New Roman" panose="02020603050405020304" charset="0"/>
              </a:rPr>
              <a:t>the last five rounds</a:t>
            </a:r>
            <a:r>
              <a:rPr lang="en-US" altLang="zh-CN" sz="1800">
                <a:latin typeface="Times New Roman" panose="02020603050405020304" charset="0"/>
                <a:cs typeface="Times New Roman" panose="02020603050405020304" charset="0"/>
              </a:rPr>
              <a:t>.</a:t>
            </a:r>
            <a:endParaRPr lang="en-US" altLang="zh-CN" sz="1800">
              <a:latin typeface="Times New Roman" panose="02020603050405020304" charset="0"/>
              <a:cs typeface="Times New Roman" panose="02020603050405020304" charset="0"/>
            </a:endParaRPr>
          </a:p>
          <a:p>
            <a:pPr algn="just"/>
            <a:endParaRPr lang="en-US" altLang="zh-CN" sz="1800">
              <a:latin typeface="Times New Roman" panose="02020603050405020304" charset="0"/>
              <a:cs typeface="Times New Roman" panose="02020603050405020304" charset="0"/>
            </a:endParaRPr>
          </a:p>
        </p:txBody>
      </p:sp>
      <p:pic>
        <p:nvPicPr>
          <p:cNvPr id="2" name="图片 1" descr="Rplot"/>
          <p:cNvPicPr>
            <a:picLocks noChangeAspect="1"/>
          </p:cNvPicPr>
          <p:nvPr/>
        </p:nvPicPr>
        <p:blipFill>
          <a:blip r:embed="rId1"/>
          <a:srcRect l="17183" t="3513" r="18046" b="25987"/>
          <a:stretch>
            <a:fillRect/>
          </a:stretch>
        </p:blipFill>
        <p:spPr>
          <a:xfrm>
            <a:off x="395605" y="1917065"/>
            <a:ext cx="4273550" cy="3489325"/>
          </a:xfrm>
          <a:prstGeom prst="rect">
            <a:avLst/>
          </a:prstGeom>
        </p:spPr>
      </p:pic>
      <p:sp>
        <p:nvSpPr>
          <p:cNvPr id="3" name="文本框 2"/>
          <p:cNvSpPr txBox="1"/>
          <p:nvPr/>
        </p:nvSpPr>
        <p:spPr>
          <a:xfrm>
            <a:off x="676275" y="5501640"/>
            <a:ext cx="3679825" cy="368300"/>
          </a:xfrm>
          <a:prstGeom prst="rect">
            <a:avLst/>
          </a:prstGeom>
          <a:noFill/>
        </p:spPr>
        <p:txBody>
          <a:bodyPr wrap="square" rtlCol="0">
            <a:spAutoFit/>
          </a:bodyPr>
          <a:p>
            <a:pPr algn="ctr"/>
            <a:r>
              <a:rPr lang="en-US" altLang="zh-CN"/>
              <a:t>First Five </a:t>
            </a:r>
            <a:r>
              <a:rPr lang="en-US" altLang="zh-CN"/>
              <a:t>Rounds</a:t>
            </a:r>
            <a:endParaRPr lang="en-US" altLang="zh-CN"/>
          </a:p>
        </p:txBody>
      </p:sp>
      <p:sp>
        <p:nvSpPr>
          <p:cNvPr id="6" name="文本框 5"/>
          <p:cNvSpPr txBox="1"/>
          <p:nvPr/>
        </p:nvSpPr>
        <p:spPr>
          <a:xfrm>
            <a:off x="5220335" y="5532120"/>
            <a:ext cx="3267075" cy="368300"/>
          </a:xfrm>
          <a:prstGeom prst="rect">
            <a:avLst/>
          </a:prstGeom>
          <a:noFill/>
        </p:spPr>
        <p:txBody>
          <a:bodyPr wrap="square" rtlCol="0">
            <a:spAutoFit/>
          </a:bodyPr>
          <a:p>
            <a:pPr algn="ctr"/>
            <a:r>
              <a:rPr lang="en-US" altLang="zh-CN"/>
              <a:t>Last Five </a:t>
            </a:r>
            <a:r>
              <a:rPr lang="en-US" altLang="zh-CN"/>
              <a:t>Rounds</a:t>
            </a:r>
            <a:endParaRPr lang="en-US" altLang="zh-CN"/>
          </a:p>
        </p:txBody>
      </p:sp>
      <p:sp>
        <p:nvSpPr>
          <p:cNvPr id="7" name="文本框 6"/>
          <p:cNvSpPr txBox="1"/>
          <p:nvPr/>
        </p:nvSpPr>
        <p:spPr>
          <a:xfrm>
            <a:off x="1403350" y="5900420"/>
            <a:ext cx="6777355" cy="1198880"/>
          </a:xfrm>
          <a:prstGeom prst="rect">
            <a:avLst/>
          </a:prstGeom>
          <a:noFill/>
        </p:spPr>
        <p:txBody>
          <a:bodyPr wrap="square" rtlCol="0">
            <a:spAutoFit/>
          </a:bodyPr>
          <a:p>
            <a:r>
              <a:rPr lang="en-US" altLang="zh-CN">
                <a:latin typeface="Times New Roman" panose="02020603050405020304" charset="0"/>
                <a:sym typeface="+mn-ea"/>
              </a:rPr>
              <a:t>• T1 vs T3 : KS </a:t>
            </a:r>
            <a:r>
              <a:rPr lang="en-US" altLang="zh-CN">
                <a:latin typeface="Times New Roman" panose="02020603050405020304" charset="0"/>
                <a:cs typeface="Times New Roman" panose="02020603050405020304" charset="0"/>
                <a:sym typeface="+mn-ea"/>
              </a:rPr>
              <a:t>D = 0.15385, p-value = 0.2518</a:t>
            </a:r>
            <a:r>
              <a:rPr lang="en-US" altLang="zh-CN">
                <a:latin typeface="Times New Roman" panose="02020603050405020304" charset="0"/>
                <a:sym typeface="+mn-ea"/>
              </a:rPr>
              <a:t>(</a:t>
            </a:r>
            <a:r>
              <a:rPr lang="en-US" altLang="zh-CN">
                <a:sym typeface="+mn-ea"/>
              </a:rPr>
              <a:t>First Five Rounds</a:t>
            </a:r>
            <a:r>
              <a:rPr lang="en-US" altLang="zh-CN">
                <a:latin typeface="Times New Roman" panose="02020603050405020304" charset="0"/>
                <a:sym typeface="+mn-ea"/>
              </a:rPr>
              <a:t>)</a:t>
            </a:r>
            <a:endParaRPr lang="en-US" altLang="zh-CN">
              <a:latin typeface="Times New Roman" panose="02020603050405020304" charset="0"/>
              <a:sym typeface="+mn-ea"/>
            </a:endParaRPr>
          </a:p>
          <a:p>
            <a:endParaRPr lang="en-US" altLang="zh-CN">
              <a:latin typeface="Times New Roman" panose="02020603050405020304" charset="0"/>
              <a:sym typeface="+mn-ea"/>
            </a:endParaRPr>
          </a:p>
          <a:p>
            <a:r>
              <a:rPr lang="en-US" altLang="zh-CN">
                <a:latin typeface="Times New Roman" panose="02020603050405020304" charset="0"/>
                <a:sym typeface="+mn-ea"/>
              </a:rPr>
              <a:t>• </a:t>
            </a:r>
            <a:r>
              <a:rPr lang="en-US" altLang="zh-CN">
                <a:latin typeface="Times New Roman" panose="02020603050405020304" charset="0"/>
                <a:cs typeface="Times New Roman" panose="02020603050405020304" charset="0"/>
                <a:sym typeface="+mn-ea"/>
              </a:rPr>
              <a:t>T1 vs  T3: KS  </a:t>
            </a:r>
            <a:r>
              <a:rPr lang="en-US" altLang="zh-CN">
                <a:latin typeface="Times New Roman" panose="02020603050405020304" charset="0"/>
                <a:cs typeface="Times New Roman" panose="02020603050405020304" charset="0"/>
              </a:rPr>
              <a:t>D = 0.26154, p-value = 0.01047</a:t>
            </a:r>
            <a:r>
              <a:rPr lang="en-US" altLang="ja-JP">
                <a:latin typeface="Times New Roman" panose="02020603050405020304" charset="0"/>
                <a:cs typeface="Times New Roman" panose="02020603050405020304" charset="0"/>
              </a:rPr>
              <a:t>(</a:t>
            </a:r>
            <a:r>
              <a:rPr lang="en-US" altLang="zh-CN">
                <a:sym typeface="+mn-ea"/>
              </a:rPr>
              <a:t>Last Five Rounds)</a:t>
            </a:r>
            <a:endParaRPr lang="en-US" altLang="zh-CN">
              <a:latin typeface="Times New Roman" panose="02020603050405020304" charset="0"/>
              <a:cs typeface="Times New Roman" panose="02020603050405020304" charset="0"/>
            </a:endParaRPr>
          </a:p>
          <a:p>
            <a:endParaRPr lang="en-US" altLang="zh-CN">
              <a:latin typeface="Times New Roman" panose="02020603050405020304" charset="0"/>
              <a:cs typeface="Times New Roman" panose="02020603050405020304" charset="0"/>
            </a:endParaRPr>
          </a:p>
        </p:txBody>
      </p:sp>
      <p:pic>
        <p:nvPicPr>
          <p:cNvPr id="9" name="图片 8"/>
          <p:cNvPicPr>
            <a:picLocks noChangeAspect="1"/>
          </p:cNvPicPr>
          <p:nvPr/>
        </p:nvPicPr>
        <p:blipFill>
          <a:blip r:embed="rId2"/>
          <a:stretch>
            <a:fillRect/>
          </a:stretch>
        </p:blipFill>
        <p:spPr>
          <a:xfrm>
            <a:off x="4787900" y="1910080"/>
            <a:ext cx="4264660" cy="3409950"/>
          </a:xfrm>
          <a:prstGeom prst="rect">
            <a:avLst/>
          </a:prstGeom>
        </p:spPr>
      </p:pic>
      <p:sp>
        <p:nvSpPr>
          <p:cNvPr id="10" name="文本框 9"/>
          <p:cNvSpPr txBox="1"/>
          <p:nvPr/>
        </p:nvSpPr>
        <p:spPr>
          <a:xfrm>
            <a:off x="960120" y="1548765"/>
            <a:ext cx="3143885" cy="368300"/>
          </a:xfrm>
          <a:prstGeom prst="rect">
            <a:avLst/>
          </a:prstGeom>
          <a:noFill/>
        </p:spPr>
        <p:txBody>
          <a:bodyPr wrap="square" rtlCol="0">
            <a:spAutoFit/>
          </a:bodyPr>
          <a:p>
            <a:pPr algn="ctr"/>
            <a:r>
              <a:rPr lang="en-US" altLang="zh-CN" b="1"/>
              <a:t>n</a:t>
            </a:r>
            <a:r>
              <a:rPr lang="en-US" altLang="ja-JP" b="1"/>
              <a:t>=195</a:t>
            </a:r>
            <a:endParaRPr lang="en-US" altLang="ja-JP" b="1"/>
          </a:p>
        </p:txBody>
      </p:sp>
      <p:sp>
        <p:nvSpPr>
          <p:cNvPr id="11" name="文本框 10"/>
          <p:cNvSpPr txBox="1"/>
          <p:nvPr/>
        </p:nvSpPr>
        <p:spPr>
          <a:xfrm>
            <a:off x="5292090" y="1541780"/>
            <a:ext cx="3143885" cy="368300"/>
          </a:xfrm>
          <a:prstGeom prst="rect">
            <a:avLst/>
          </a:prstGeom>
          <a:noFill/>
        </p:spPr>
        <p:txBody>
          <a:bodyPr wrap="square" rtlCol="0">
            <a:spAutoFit/>
          </a:bodyPr>
          <a:p>
            <a:pPr algn="ctr"/>
            <a:r>
              <a:rPr lang="en-US" altLang="zh-CN" b="1"/>
              <a:t>n</a:t>
            </a:r>
            <a:r>
              <a:rPr lang="en-US" altLang="ja-JP" b="1"/>
              <a:t>=195</a:t>
            </a:r>
            <a:endParaRPr lang="en-US" altLang="ja-JP" b="1"/>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文本框 3"/>
          <p:cNvSpPr txBox="1"/>
          <p:nvPr/>
        </p:nvSpPr>
        <p:spPr>
          <a:xfrm>
            <a:off x="179388" y="188278"/>
            <a:ext cx="5046662" cy="645160"/>
          </a:xfrm>
          <a:prstGeom prst="rect">
            <a:avLst/>
          </a:prstGeom>
          <a:noFill/>
          <a:ln w="9525">
            <a:noFill/>
          </a:ln>
        </p:spPr>
        <p:txBody>
          <a:bodyPr wrap="square" anchor="t" anchorCtr="0">
            <a:spAutoFit/>
          </a:bodyPr>
          <a:p>
            <a:r>
              <a:rPr lang="en-US" altLang="zh-CN" sz="3600">
                <a:latin typeface="Times New Roman" panose="02020603050405020304" charset="0"/>
                <a:ea typeface="宋体" panose="02010600030101010101" pitchFamily="2" charset="-122"/>
              </a:rPr>
              <a:t>Results</a:t>
            </a:r>
            <a:endParaRPr lang="en-US" altLang="zh-CN" sz="3600">
              <a:latin typeface="Times New Roman" panose="02020603050405020304" charset="0"/>
              <a:ea typeface="宋体" panose="02010600030101010101" pitchFamily="2" charset="-122"/>
            </a:endParaRPr>
          </a:p>
        </p:txBody>
      </p:sp>
      <p:sp>
        <p:nvSpPr>
          <p:cNvPr id="5" name="文本框 4"/>
          <p:cNvSpPr txBox="1"/>
          <p:nvPr/>
        </p:nvSpPr>
        <p:spPr>
          <a:xfrm>
            <a:off x="381000" y="1691640"/>
            <a:ext cx="8625840" cy="3046095"/>
          </a:xfrm>
          <a:prstGeom prst="rect">
            <a:avLst/>
          </a:prstGeom>
          <a:noFill/>
        </p:spPr>
        <p:txBody>
          <a:bodyPr wrap="square" rtlCol="0">
            <a:spAutoFit/>
          </a:bodyPr>
          <a:p>
            <a:pPr algn="just"/>
            <a:r>
              <a:rPr lang="en-US" altLang="zh-CN" sz="2400" b="1">
                <a:latin typeface="Times New Roman" panose="02020603050405020304" charset="0"/>
                <a:sym typeface="+mn-ea"/>
              </a:rPr>
              <a:t>• </a:t>
            </a:r>
            <a:r>
              <a:rPr lang="en-US" altLang="zh-CN" sz="2400">
                <a:latin typeface="Times New Roman" panose="02020603050405020304" charset="0"/>
                <a:cs typeface="Times New Roman" panose="02020603050405020304" charset="0"/>
              </a:rPr>
              <a:t>At the beginning, participants may not know how to bargain with the AI. As rounds go on, when the opponent is AI, they tend to make higher offers.</a:t>
            </a:r>
            <a:endParaRPr lang="en-US" altLang="zh-CN" sz="2400">
              <a:latin typeface="Times New Roman" panose="02020603050405020304" charset="0"/>
              <a:cs typeface="Times New Roman" panose="02020603050405020304" charset="0"/>
            </a:endParaRPr>
          </a:p>
          <a:p>
            <a:pPr algn="just"/>
            <a:endParaRPr lang="en-US" altLang="zh-CN" sz="2400">
              <a:latin typeface="Times New Roman" panose="02020603050405020304" charset="0"/>
              <a:cs typeface="Times New Roman" panose="02020603050405020304" charset="0"/>
            </a:endParaRPr>
          </a:p>
          <a:p>
            <a:pPr algn="just"/>
            <a:endParaRPr lang="en-US" altLang="zh-CN" sz="2400">
              <a:latin typeface="Times New Roman" panose="02020603050405020304" charset="0"/>
              <a:cs typeface="Times New Roman" panose="02020603050405020304" charset="0"/>
            </a:endParaRPr>
          </a:p>
          <a:p>
            <a:pPr algn="just"/>
            <a:r>
              <a:rPr lang="en-US" altLang="zh-CN" sz="2400" b="1">
                <a:latin typeface="Times New Roman" panose="02020603050405020304" charset="0"/>
                <a:sym typeface="+mn-ea"/>
              </a:rPr>
              <a:t>• </a:t>
            </a:r>
            <a:r>
              <a:rPr lang="en-US" altLang="zh-CN" sz="2400">
                <a:latin typeface="Times New Roman" panose="02020603050405020304" charset="0"/>
                <a:cs typeface="Times New Roman" panose="02020603050405020304" charset="0"/>
              </a:rPr>
              <a:t>There is no clear trend showing that linking the AI’s payoff to other </a:t>
            </a:r>
            <a:r>
              <a:rPr lang="en-US" altLang="zh-CN" sz="2400">
                <a:latin typeface="Times New Roman" panose="02020603050405020304" charset="0"/>
                <a:cs typeface="Times New Roman" panose="02020603050405020304" charset="0"/>
              </a:rPr>
              <a:t>subjects affects the offers made by humans.</a:t>
            </a:r>
            <a:endParaRPr lang="en-US" altLang="zh-CN" sz="2400">
              <a:latin typeface="Times New Roman" panose="02020603050405020304" charset="0"/>
              <a:cs typeface="Times New Roman" panose="02020603050405020304" charset="0"/>
            </a:endParaRPr>
          </a:p>
          <a:p>
            <a:pPr algn="just"/>
            <a:endParaRPr lang="en-US" altLang="zh-CN" sz="2400">
              <a:latin typeface="Times New Roman" panose="02020603050405020304" charset="0"/>
              <a:cs typeface="Times New Roman" panose="0202060305040502030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文本框 3"/>
          <p:cNvSpPr txBox="1"/>
          <p:nvPr/>
        </p:nvSpPr>
        <p:spPr>
          <a:xfrm>
            <a:off x="179388" y="188278"/>
            <a:ext cx="5046662" cy="645160"/>
          </a:xfrm>
          <a:prstGeom prst="rect">
            <a:avLst/>
          </a:prstGeom>
          <a:noFill/>
          <a:ln w="9525">
            <a:noFill/>
          </a:ln>
        </p:spPr>
        <p:txBody>
          <a:bodyPr wrap="square" anchor="t" anchorCtr="0">
            <a:spAutoFit/>
          </a:bodyPr>
          <a:p>
            <a:r>
              <a:rPr lang="en-US" altLang="zh-CN" sz="3600">
                <a:latin typeface="Times New Roman" panose="02020603050405020304" charset="0"/>
                <a:ea typeface="宋体" panose="02010600030101010101" pitchFamily="2" charset="-122"/>
              </a:rPr>
              <a:t>Regression</a:t>
            </a:r>
            <a:endParaRPr lang="en-US" altLang="zh-CN" sz="3600">
              <a:latin typeface="Times New Roman" panose="02020603050405020304" charset="0"/>
              <a:ea typeface="宋体" panose="02010600030101010101" pitchFamily="2" charset="-122"/>
            </a:endParaRPr>
          </a:p>
        </p:txBody>
      </p:sp>
      <p:sp>
        <p:nvSpPr>
          <p:cNvPr id="4" name="内容占位符 3"/>
          <p:cNvSpPr>
            <a:spLocks noGrp="1"/>
          </p:cNvSpPr>
          <p:nvPr>
            <p:ph idx="1"/>
          </p:nvPr>
        </p:nvSpPr>
        <p:spPr>
          <a:xfrm>
            <a:off x="179705" y="1124585"/>
            <a:ext cx="8884920" cy="2013585"/>
          </a:xfrm>
        </p:spPr>
        <p:txBody>
          <a:bodyPr/>
          <a:p>
            <a:pPr marL="0" indent="0">
              <a:buNone/>
            </a:pPr>
            <a:r>
              <a:rPr lang="en-US" altLang="zh-CN">
                <a:solidFill>
                  <a:srgbClr val="00B0F0"/>
                </a:solidFill>
                <a:latin typeface="Times New Roman" panose="02020603050405020304" charset="0"/>
                <a:cs typeface="Times New Roman" panose="02020603050405020304" charset="0"/>
              </a:rPr>
              <a:t>stage 1  human (P2)</a:t>
            </a:r>
            <a:endParaRPr lang="en-US" altLang="zh-CN">
              <a:solidFill>
                <a:srgbClr val="00B0F0"/>
              </a:solidFill>
              <a:latin typeface="Times New Roman" panose="02020603050405020304" charset="0"/>
              <a:cs typeface="Times New Roman" panose="02020603050405020304" charset="0"/>
            </a:endParaRPr>
          </a:p>
          <a:p>
            <a:pPr marL="0" indent="0">
              <a:buNone/>
            </a:pPr>
            <a:endParaRPr lang="en-US" altLang="zh-CN">
              <a:latin typeface="Times New Roman" panose="02020603050405020304" charset="0"/>
              <a:cs typeface="Times New Roman" panose="02020603050405020304" charset="0"/>
            </a:endParaRPr>
          </a:p>
          <a:p>
            <a:pPr marL="0" indent="0">
              <a:buNone/>
            </a:pPr>
            <a:r>
              <a:rPr lang="en-US" altLang="zh-CN" sz="2800" b="1" i="1">
                <a:latin typeface="Times New Roman" panose="02020603050405020304" charset="0"/>
                <a:cs typeface="Times New Roman" panose="02020603050405020304" charset="0"/>
              </a:rPr>
              <a:t>Pr(Accept</a:t>
            </a:r>
            <a:r>
              <a:rPr lang="en-US" altLang="en-US" sz="2800" b="1" i="1">
                <a:latin typeface="Times New Roman" panose="02020603050405020304" charset="0"/>
                <a:cs typeface="Times New Roman" panose="02020603050405020304" charset="0"/>
              </a:rPr>
              <a:t>ᵢ</a:t>
            </a:r>
            <a:r>
              <a:rPr lang="en-US" altLang="zh-CN" sz="2800" b="1" i="1">
                <a:latin typeface="Times New Roman" panose="02020603050405020304" charset="0"/>
                <a:cs typeface="Times New Roman" panose="02020603050405020304" charset="0"/>
              </a:rPr>
              <a:t> = 1) = Φ( β</a:t>
            </a:r>
            <a:r>
              <a:rPr lang="en-US" altLang="en-US" sz="2800" b="1" i="1">
                <a:latin typeface="Times New Roman" panose="02020603050405020304" charset="0"/>
                <a:cs typeface="Times New Roman" panose="02020603050405020304" charset="0"/>
              </a:rPr>
              <a:t>₀</a:t>
            </a:r>
            <a:r>
              <a:rPr lang="en-US" altLang="zh-CN" sz="2800" b="1" i="1">
                <a:latin typeface="Times New Roman" panose="02020603050405020304" charset="0"/>
                <a:cs typeface="Times New Roman" panose="02020603050405020304" charset="0"/>
              </a:rPr>
              <a:t> + β</a:t>
            </a:r>
            <a:r>
              <a:rPr lang="en-US" altLang="en-US" sz="2800" b="1" i="1">
                <a:latin typeface="Times New Roman" panose="02020603050405020304" charset="0"/>
                <a:cs typeface="Times New Roman" panose="02020603050405020304" charset="0"/>
              </a:rPr>
              <a:t>₁</a:t>
            </a:r>
            <a:r>
              <a:rPr lang="en-US" altLang="zh-CN" sz="2800" b="1" i="1">
                <a:latin typeface="Times New Roman" panose="02020603050405020304" charset="0"/>
                <a:cs typeface="Times New Roman" panose="02020603050405020304" charset="0"/>
              </a:rPr>
              <a:t>·AI</a:t>
            </a:r>
            <a:r>
              <a:rPr lang="en-US" altLang="en-US" sz="2800" b="1" i="1">
                <a:latin typeface="Times New Roman" panose="02020603050405020304" charset="0"/>
                <a:cs typeface="Times New Roman" panose="02020603050405020304" charset="0"/>
              </a:rPr>
              <a:t>ᵢ</a:t>
            </a:r>
            <a:r>
              <a:rPr lang="en-US" altLang="zh-CN" sz="2800" b="1" i="1">
                <a:latin typeface="Times New Roman" panose="02020603050405020304" charset="0"/>
                <a:cs typeface="Times New Roman" panose="02020603050405020304" charset="0"/>
              </a:rPr>
              <a:t> + β</a:t>
            </a:r>
            <a:r>
              <a:rPr lang="en-US" altLang="en-US" sz="2800" b="1" i="1">
                <a:latin typeface="Times New Roman" panose="02020603050405020304" charset="0"/>
                <a:cs typeface="Times New Roman" panose="02020603050405020304" charset="0"/>
              </a:rPr>
              <a:t>₂</a:t>
            </a:r>
            <a:r>
              <a:rPr lang="en-US" altLang="zh-CN" sz="2800" b="1" i="1">
                <a:latin typeface="Times New Roman" panose="02020603050405020304" charset="0"/>
                <a:cs typeface="Times New Roman" panose="02020603050405020304" charset="0"/>
              </a:rPr>
              <a:t>·Transfer</a:t>
            </a:r>
            <a:r>
              <a:rPr lang="en-US" altLang="en-US" sz="2800" b="1" i="1">
                <a:latin typeface="Times New Roman" panose="02020603050405020304" charset="0"/>
                <a:cs typeface="Times New Roman" panose="02020603050405020304" charset="0"/>
              </a:rPr>
              <a:t>ᵢ</a:t>
            </a:r>
            <a:r>
              <a:rPr lang="en-US" altLang="zh-CN" sz="2800" b="1" i="1">
                <a:latin typeface="Times New Roman" panose="02020603050405020304" charset="0"/>
                <a:cs typeface="Times New Roman" panose="02020603050405020304" charset="0"/>
              </a:rPr>
              <a:t> + β</a:t>
            </a:r>
            <a:r>
              <a:rPr lang="en-US" altLang="en-US" sz="2800" b="1" i="1">
                <a:latin typeface="Times New Roman" panose="02020603050405020304" charset="0"/>
                <a:cs typeface="Times New Roman" panose="02020603050405020304" charset="0"/>
              </a:rPr>
              <a:t>₃</a:t>
            </a:r>
            <a:r>
              <a:rPr lang="en-US" altLang="zh-CN" sz="2800" b="1" i="1">
                <a:latin typeface="Times New Roman" panose="02020603050405020304" charset="0"/>
                <a:cs typeface="Times New Roman" panose="02020603050405020304" charset="0"/>
              </a:rPr>
              <a:t>·Offer</a:t>
            </a:r>
            <a:r>
              <a:rPr lang="en-US" altLang="en-US" sz="2800" b="1" i="1">
                <a:latin typeface="Times New Roman" panose="02020603050405020304" charset="0"/>
                <a:cs typeface="Times New Roman" panose="02020603050405020304" charset="0"/>
              </a:rPr>
              <a:t>ᵢ</a:t>
            </a:r>
            <a:r>
              <a:rPr lang="en-US" altLang="zh-CN" sz="2800" b="1" i="1">
                <a:latin typeface="Times New Roman" panose="02020603050405020304" charset="0"/>
                <a:cs typeface="Times New Roman" panose="02020603050405020304" charset="0"/>
              </a:rPr>
              <a:t> )</a:t>
            </a:r>
            <a:endParaRPr lang="en-US" altLang="zh-CN" sz="2800" b="1" i="1">
              <a:latin typeface="Times New Roman" panose="02020603050405020304" charset="0"/>
              <a:cs typeface="Times New Roman" panose="02020603050405020304" charset="0"/>
            </a:endParaRPr>
          </a:p>
          <a:p>
            <a:pPr marL="0" indent="0">
              <a:buNone/>
            </a:pPr>
            <a:endParaRPr lang="en-US" altLang="zh-CN" sz="2800" b="1" i="1">
              <a:latin typeface="Times New Roman" panose="02020603050405020304" charset="0"/>
              <a:cs typeface="Times New Roman" panose="02020603050405020304" charset="0"/>
            </a:endParaRPr>
          </a:p>
        </p:txBody>
      </p:sp>
      <p:sp>
        <p:nvSpPr>
          <p:cNvPr id="5" name="文本框 4"/>
          <p:cNvSpPr txBox="1"/>
          <p:nvPr/>
        </p:nvSpPr>
        <p:spPr>
          <a:xfrm>
            <a:off x="1692275" y="3500755"/>
            <a:ext cx="7853045" cy="1630045"/>
          </a:xfrm>
          <a:prstGeom prst="rect">
            <a:avLst/>
          </a:prstGeom>
          <a:noFill/>
        </p:spPr>
        <p:txBody>
          <a:bodyPr wrap="square" rtlCol="0">
            <a:spAutoFit/>
          </a:bodyPr>
          <a:p>
            <a:r>
              <a:rPr lang="en-US" altLang="zh-CN" sz="2000">
                <a:latin typeface="Times New Roman" panose="02020603050405020304" charset="0"/>
                <a:cs typeface="Times New Roman" panose="02020603050405020304" charset="0"/>
              </a:rPr>
              <a:t>β</a:t>
            </a:r>
            <a:r>
              <a:rPr lang="en-US" altLang="en-US" sz="2000">
                <a:latin typeface="Times New Roman" panose="02020603050405020304" charset="0"/>
                <a:cs typeface="Times New Roman" panose="02020603050405020304" charset="0"/>
              </a:rPr>
              <a:t>₀:</a:t>
            </a:r>
            <a:r>
              <a:rPr lang="en-US" altLang="zh-CN" sz="2000">
                <a:latin typeface="Times New Roman" panose="02020603050405020304" charset="0"/>
                <a:cs typeface="Times New Roman" panose="02020603050405020304" charset="0"/>
              </a:rPr>
              <a:t> baseline acceptance level</a:t>
            </a:r>
            <a:endParaRPr lang="en-US" altLang="zh-CN" sz="2000">
              <a:latin typeface="Times New Roman" panose="02020603050405020304" charset="0"/>
              <a:cs typeface="Times New Roman" panose="02020603050405020304" charset="0"/>
            </a:endParaRPr>
          </a:p>
          <a:p>
            <a:r>
              <a:rPr lang="en-US" altLang="zh-CN" sz="2000">
                <a:latin typeface="Times New Roman" panose="02020603050405020304" charset="0"/>
                <a:cs typeface="Times New Roman" panose="02020603050405020304" charset="0"/>
              </a:rPr>
              <a:t>β</a:t>
            </a:r>
            <a:r>
              <a:rPr lang="en-US" altLang="en-US" sz="2000">
                <a:latin typeface="Times New Roman" panose="02020603050405020304" charset="0"/>
                <a:cs typeface="Times New Roman" panose="02020603050405020304" charset="0"/>
              </a:rPr>
              <a:t>₁</a:t>
            </a:r>
            <a:r>
              <a:rPr lang="en-US" altLang="zh-CN" sz="2000">
                <a:latin typeface="Times New Roman" panose="02020603050405020304" charset="0"/>
                <a:cs typeface="Times New Roman" panose="02020603050405020304" charset="0"/>
              </a:rPr>
              <a:t>: AI vs human effect on acceptance</a:t>
            </a:r>
            <a:endParaRPr lang="en-US" altLang="zh-CN" sz="2000">
              <a:latin typeface="Times New Roman" panose="02020603050405020304" charset="0"/>
              <a:cs typeface="Times New Roman" panose="02020603050405020304" charset="0"/>
            </a:endParaRPr>
          </a:p>
          <a:p>
            <a:r>
              <a:rPr lang="en-US" altLang="zh-CN" sz="2000">
                <a:latin typeface="Times New Roman" panose="02020603050405020304" charset="0"/>
                <a:cs typeface="Times New Roman" panose="02020603050405020304" charset="0"/>
              </a:rPr>
              <a:t>β</a:t>
            </a:r>
            <a:r>
              <a:rPr lang="en-US" altLang="en-US" sz="2000">
                <a:latin typeface="Times New Roman" panose="02020603050405020304" charset="0"/>
                <a:cs typeface="Times New Roman" panose="02020603050405020304" charset="0"/>
              </a:rPr>
              <a:t>₂</a:t>
            </a:r>
            <a:r>
              <a:rPr lang="en-US" altLang="zh-CN" sz="2000">
                <a:latin typeface="Times New Roman" panose="02020603050405020304" charset="0"/>
                <a:cs typeface="Times New Roman" panose="02020603050405020304" charset="0"/>
              </a:rPr>
              <a:t>: transfer-condition effect on acceptance</a:t>
            </a:r>
            <a:endParaRPr lang="en-US" altLang="zh-CN" sz="2000">
              <a:latin typeface="Times New Roman" panose="02020603050405020304" charset="0"/>
              <a:cs typeface="Times New Roman" panose="02020603050405020304" charset="0"/>
            </a:endParaRPr>
          </a:p>
          <a:p>
            <a:r>
              <a:rPr lang="en-US" altLang="zh-CN" sz="2000">
                <a:latin typeface="Times New Roman" panose="02020603050405020304" charset="0"/>
                <a:cs typeface="Times New Roman" panose="02020603050405020304" charset="0"/>
              </a:rPr>
              <a:t>β</a:t>
            </a:r>
            <a:r>
              <a:rPr lang="en-US" altLang="en-US" sz="2000">
                <a:latin typeface="Times New Roman" panose="02020603050405020304" charset="0"/>
                <a:cs typeface="Times New Roman" panose="02020603050405020304" charset="0"/>
              </a:rPr>
              <a:t>₃</a:t>
            </a:r>
            <a:r>
              <a:rPr lang="en-US" altLang="zh-CN" sz="2000">
                <a:latin typeface="Times New Roman" panose="02020603050405020304" charset="0"/>
                <a:cs typeface="Times New Roman" panose="02020603050405020304" charset="0"/>
              </a:rPr>
              <a:t>: effect of a higher offer on acceptance</a:t>
            </a:r>
            <a:endParaRPr lang="en-US" altLang="zh-CN" sz="2000">
              <a:latin typeface="Times New Roman" panose="02020603050405020304" charset="0"/>
              <a:cs typeface="Times New Roman" panose="02020603050405020304" charset="0"/>
            </a:endParaRPr>
          </a:p>
          <a:p>
            <a:endParaRPr lang="en-US" altLang="zh-CN" sz="2000">
              <a:latin typeface="Times New Roman" panose="02020603050405020304" charset="0"/>
              <a:cs typeface="Times New Roman" panose="0202060305040502030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文本框 3"/>
          <p:cNvSpPr txBox="1"/>
          <p:nvPr/>
        </p:nvSpPr>
        <p:spPr>
          <a:xfrm>
            <a:off x="179388" y="188278"/>
            <a:ext cx="5046662" cy="645160"/>
          </a:xfrm>
          <a:prstGeom prst="rect">
            <a:avLst/>
          </a:prstGeom>
          <a:noFill/>
          <a:ln w="9525">
            <a:noFill/>
          </a:ln>
        </p:spPr>
        <p:txBody>
          <a:bodyPr wrap="square" anchor="t" anchorCtr="0">
            <a:spAutoFit/>
          </a:bodyPr>
          <a:p>
            <a:r>
              <a:rPr lang="en-US" altLang="zh-CN" sz="3600">
                <a:latin typeface="Times New Roman" panose="02020603050405020304" charset="0"/>
                <a:ea typeface="宋体" panose="02010600030101010101" pitchFamily="2" charset="-122"/>
              </a:rPr>
              <a:t>Regression</a:t>
            </a:r>
            <a:endParaRPr lang="en-US" altLang="zh-CN" sz="3600">
              <a:latin typeface="Times New Roman" panose="02020603050405020304" charset="0"/>
              <a:ea typeface="宋体" panose="02010600030101010101" pitchFamily="2" charset="-122"/>
            </a:endParaRPr>
          </a:p>
        </p:txBody>
      </p:sp>
      <p:pic>
        <p:nvPicPr>
          <p:cNvPr id="5" name="图片 4"/>
          <p:cNvPicPr>
            <a:picLocks noChangeAspect="1"/>
          </p:cNvPicPr>
          <p:nvPr/>
        </p:nvPicPr>
        <p:blipFill>
          <a:blip r:embed="rId1"/>
          <a:stretch>
            <a:fillRect/>
          </a:stretch>
        </p:blipFill>
        <p:spPr>
          <a:xfrm>
            <a:off x="1547495" y="692785"/>
            <a:ext cx="5461635" cy="4208145"/>
          </a:xfrm>
          <a:prstGeom prst="rect">
            <a:avLst/>
          </a:prstGeom>
        </p:spPr>
      </p:pic>
      <p:sp>
        <p:nvSpPr>
          <p:cNvPr id="6" name="文本框 5"/>
          <p:cNvSpPr txBox="1"/>
          <p:nvPr/>
        </p:nvSpPr>
        <p:spPr>
          <a:xfrm>
            <a:off x="611505" y="4797425"/>
            <a:ext cx="7804150" cy="1014730"/>
          </a:xfrm>
          <a:prstGeom prst="rect">
            <a:avLst/>
          </a:prstGeom>
          <a:noFill/>
        </p:spPr>
        <p:txBody>
          <a:bodyPr wrap="square" rtlCol="0">
            <a:spAutoFit/>
          </a:bodyPr>
          <a:p>
            <a:pPr algn="just"/>
            <a:r>
              <a:rPr lang="en-US" altLang="zh-CN" sz="2000">
                <a:latin typeface="Times New Roman" panose="02020603050405020304" charset="0"/>
                <a:cs typeface="Times New Roman" panose="02020603050405020304" charset="0"/>
              </a:rPr>
              <a:t>We use Fisher’s exact tests to compare acceptance rates between groups. The results are generally consistent with the main findings.</a:t>
            </a:r>
            <a:endParaRPr lang="en-US" altLang="zh-CN" sz="2000">
              <a:latin typeface="Times New Roman" panose="02020603050405020304" charset="0"/>
              <a:cs typeface="Times New Roman" panose="02020603050405020304" charset="0"/>
            </a:endParaRPr>
          </a:p>
          <a:p>
            <a:pPr algn="just"/>
            <a:endParaRPr lang="en-US" altLang="zh-CN" sz="2000">
              <a:latin typeface="Times New Roman" panose="02020603050405020304" charset="0"/>
              <a:cs typeface="Times New Roman" panose="02020603050405020304" charset="0"/>
            </a:endParaRPr>
          </a:p>
        </p:txBody>
      </p:sp>
      <p:sp>
        <p:nvSpPr>
          <p:cNvPr id="7" name="文本框 6"/>
          <p:cNvSpPr txBox="1"/>
          <p:nvPr/>
        </p:nvSpPr>
        <p:spPr>
          <a:xfrm>
            <a:off x="1692275" y="5661025"/>
            <a:ext cx="8007350" cy="64516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T1 vs T3: OR = 0.58 , p-value = 0.20(Fisher’s exact test).</a:t>
            </a:r>
            <a:endParaRPr lang="en-US" altLang="zh-CN">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T2 vs T3: OR = 1.28 , </a:t>
            </a:r>
            <a:r>
              <a:rPr lang="en-US" altLang="zh-CN">
                <a:latin typeface="Times New Roman" panose="02020603050405020304" charset="0"/>
                <a:cs typeface="Times New Roman" panose="02020603050405020304" charset="0"/>
                <a:sym typeface="+mn-ea"/>
              </a:rPr>
              <a:t>p-value = 0.60</a:t>
            </a:r>
            <a:r>
              <a:rPr lang="en-US" altLang="zh-CN">
                <a:latin typeface="Times New Roman" panose="02020603050405020304" charset="0"/>
                <a:cs typeface="Times New Roman" panose="02020603050405020304" charset="0"/>
              </a:rPr>
              <a:t> (Fisher’s exact test).</a:t>
            </a:r>
            <a:endParaRPr lang="en-US" altLang="zh-CN">
              <a:latin typeface="Times New Roman" panose="02020603050405020304" charset="0"/>
              <a:cs typeface="Times New Roman" panose="0202060305040502030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文本框 3"/>
          <p:cNvSpPr txBox="1"/>
          <p:nvPr/>
        </p:nvSpPr>
        <p:spPr>
          <a:xfrm>
            <a:off x="179388" y="188278"/>
            <a:ext cx="5046662" cy="645160"/>
          </a:xfrm>
          <a:prstGeom prst="rect">
            <a:avLst/>
          </a:prstGeom>
          <a:noFill/>
          <a:ln w="9525">
            <a:noFill/>
          </a:ln>
        </p:spPr>
        <p:txBody>
          <a:bodyPr wrap="square" anchor="t" anchorCtr="0">
            <a:spAutoFit/>
          </a:bodyPr>
          <a:p>
            <a:r>
              <a:rPr lang="en-US" altLang="zh-CN" sz="3600">
                <a:latin typeface="Times New Roman" panose="02020603050405020304" charset="0"/>
                <a:ea typeface="宋体" panose="02010600030101010101" pitchFamily="2" charset="-122"/>
              </a:rPr>
              <a:t>Regression</a:t>
            </a:r>
            <a:endParaRPr lang="en-US" altLang="zh-CN" sz="3600">
              <a:latin typeface="Times New Roman" panose="02020603050405020304" charset="0"/>
              <a:ea typeface="宋体" panose="02010600030101010101" pitchFamily="2" charset="-122"/>
            </a:endParaRPr>
          </a:p>
        </p:txBody>
      </p:sp>
      <p:sp>
        <p:nvSpPr>
          <p:cNvPr id="5" name="文本框 4"/>
          <p:cNvSpPr txBox="1"/>
          <p:nvPr/>
        </p:nvSpPr>
        <p:spPr>
          <a:xfrm>
            <a:off x="381000" y="1196975"/>
            <a:ext cx="8625840" cy="1814830"/>
          </a:xfrm>
          <a:prstGeom prst="rect">
            <a:avLst/>
          </a:prstGeom>
          <a:noFill/>
        </p:spPr>
        <p:txBody>
          <a:bodyPr wrap="square" rtlCol="0">
            <a:spAutoFit/>
          </a:bodyPr>
          <a:p>
            <a:pPr algn="just"/>
            <a:r>
              <a:rPr lang="en-US" altLang="zh-CN" sz="2400" b="1">
                <a:latin typeface="Times New Roman" panose="02020603050405020304" charset="0"/>
                <a:sym typeface="+mn-ea"/>
              </a:rPr>
              <a:t>• </a:t>
            </a:r>
            <a:r>
              <a:rPr lang="en-US" altLang="zh-CN" sz="2000">
                <a:latin typeface="Times New Roman" panose="02020603050405020304" charset="0"/>
                <a:cs typeface="Times New Roman" panose="02020603050405020304" charset="0"/>
              </a:rPr>
              <a:t>Similarly, we ran separate regressions for the first five rounds and the last five rounds. In both cases, the coefficients on AI and Transfer are not significant.</a:t>
            </a:r>
            <a:endParaRPr lang="en-US" altLang="zh-CN" sz="2000">
              <a:latin typeface="Times New Roman" panose="02020603050405020304" charset="0"/>
              <a:cs typeface="Times New Roman" panose="02020603050405020304" charset="0"/>
            </a:endParaRPr>
          </a:p>
          <a:p>
            <a:pPr algn="just"/>
            <a:endParaRPr lang="en-US" altLang="zh-CN" sz="2000">
              <a:latin typeface="Times New Roman" panose="02020603050405020304" charset="0"/>
              <a:cs typeface="Times New Roman" panose="02020603050405020304" charset="0"/>
            </a:endParaRPr>
          </a:p>
          <a:p>
            <a:pPr algn="just"/>
            <a:endParaRPr lang="en-US" altLang="zh-CN" sz="2400">
              <a:latin typeface="Times New Roman" panose="02020603050405020304" charset="0"/>
              <a:cs typeface="Times New Roman" panose="02020603050405020304" charset="0"/>
            </a:endParaRPr>
          </a:p>
          <a:p>
            <a:pPr algn="just"/>
            <a:endParaRPr lang="en-US" altLang="zh-CN" sz="2400">
              <a:latin typeface="Times New Roman" panose="02020603050405020304" charset="0"/>
              <a:cs typeface="Times New Roman" panose="02020603050405020304" charset="0"/>
            </a:endParaRPr>
          </a:p>
        </p:txBody>
      </p:sp>
      <p:pic>
        <p:nvPicPr>
          <p:cNvPr id="2" name="图片 1"/>
          <p:cNvPicPr>
            <a:picLocks noChangeAspect="1"/>
          </p:cNvPicPr>
          <p:nvPr/>
        </p:nvPicPr>
        <p:blipFill>
          <a:blip r:embed="rId1"/>
          <a:srcRect l="20962" t="3604" r="20955" b="33531"/>
          <a:stretch>
            <a:fillRect/>
          </a:stretch>
        </p:blipFill>
        <p:spPr>
          <a:xfrm>
            <a:off x="107950" y="2637155"/>
            <a:ext cx="4098290" cy="3023870"/>
          </a:xfrm>
          <a:prstGeom prst="rect">
            <a:avLst/>
          </a:prstGeom>
        </p:spPr>
      </p:pic>
      <p:pic>
        <p:nvPicPr>
          <p:cNvPr id="3" name="图片 2"/>
          <p:cNvPicPr>
            <a:picLocks noChangeAspect="1"/>
          </p:cNvPicPr>
          <p:nvPr/>
        </p:nvPicPr>
        <p:blipFill>
          <a:blip r:embed="rId2"/>
          <a:stretch>
            <a:fillRect/>
          </a:stretch>
        </p:blipFill>
        <p:spPr>
          <a:xfrm>
            <a:off x="4284345" y="2564765"/>
            <a:ext cx="4876800" cy="322897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323850" y="2331720"/>
            <a:ext cx="8229600" cy="4525963"/>
          </a:xfrm>
        </p:spPr>
        <p:txBody>
          <a:bodyPr/>
          <a:p>
            <a:pPr algn="just"/>
            <a:r>
              <a:rPr lang="en-US" altLang="zh-CN" sz="2400">
                <a:latin typeface="Times New Roman" panose="02020603050405020304" charset="0"/>
                <a:cs typeface="Times New Roman" panose="02020603050405020304" charset="0"/>
              </a:rPr>
              <a:t>In Stage 1, when humans are P2 (the responder), they do not seem to strongly differentiate whether the opponent is AI or human, or whether the AI’s payoff may affect others. Instead, they appear to care more about the offer amount.</a:t>
            </a:r>
            <a:endParaRPr lang="en-US" altLang="zh-CN" sz="2400">
              <a:latin typeface="Times New Roman" panose="02020603050405020304" charset="0"/>
              <a:cs typeface="Times New Roman" panose="02020603050405020304" charset="0"/>
            </a:endParaRPr>
          </a:p>
        </p:txBody>
      </p:sp>
      <p:sp>
        <p:nvSpPr>
          <p:cNvPr id="5121" name="文本框 3"/>
          <p:cNvSpPr txBox="1"/>
          <p:nvPr/>
        </p:nvSpPr>
        <p:spPr>
          <a:xfrm>
            <a:off x="179388" y="188278"/>
            <a:ext cx="5046662" cy="645160"/>
          </a:xfrm>
          <a:prstGeom prst="rect">
            <a:avLst/>
          </a:prstGeom>
          <a:noFill/>
          <a:ln w="9525">
            <a:noFill/>
          </a:ln>
        </p:spPr>
        <p:txBody>
          <a:bodyPr wrap="square" anchor="t" anchorCtr="0">
            <a:spAutoFit/>
          </a:bodyPr>
          <a:p>
            <a:r>
              <a:rPr lang="en-US" altLang="zh-CN" sz="3600">
                <a:latin typeface="Times New Roman" panose="02020603050405020304" charset="0"/>
                <a:ea typeface="宋体" panose="02010600030101010101" pitchFamily="2" charset="-122"/>
              </a:rPr>
              <a:t>Results</a:t>
            </a:r>
            <a:endParaRPr lang="en-US" altLang="zh-CN" sz="3600">
              <a:latin typeface="Times New Roman" panose="02020603050405020304" charset="0"/>
              <a:ea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文本框 3"/>
          <p:cNvSpPr txBox="1"/>
          <p:nvPr/>
        </p:nvSpPr>
        <p:spPr>
          <a:xfrm>
            <a:off x="179388" y="188278"/>
            <a:ext cx="5046662" cy="645160"/>
          </a:xfrm>
          <a:prstGeom prst="rect">
            <a:avLst/>
          </a:prstGeom>
          <a:noFill/>
          <a:ln w="9525">
            <a:noFill/>
          </a:ln>
        </p:spPr>
        <p:txBody>
          <a:bodyPr wrap="square" anchor="t" anchorCtr="0">
            <a:spAutoFit/>
          </a:bodyPr>
          <a:p>
            <a:r>
              <a:rPr lang="en-US" altLang="zh-CN" sz="3600">
                <a:latin typeface="Times New Roman" panose="02020603050405020304" charset="0"/>
                <a:ea typeface="宋体" panose="02010600030101010101" pitchFamily="2" charset="-122"/>
              </a:rPr>
              <a:t>Regression</a:t>
            </a:r>
            <a:endParaRPr lang="en-US" altLang="zh-CN" sz="3600">
              <a:latin typeface="Times New Roman" panose="02020603050405020304" charset="0"/>
              <a:ea typeface="宋体" panose="02010600030101010101" pitchFamily="2" charset="-122"/>
            </a:endParaRPr>
          </a:p>
        </p:txBody>
      </p:sp>
      <p:sp>
        <p:nvSpPr>
          <p:cNvPr id="4" name="内容占位符 3"/>
          <p:cNvSpPr>
            <a:spLocks noGrp="1"/>
          </p:cNvSpPr>
          <p:nvPr>
            <p:ph idx="1"/>
          </p:nvPr>
        </p:nvSpPr>
        <p:spPr>
          <a:xfrm>
            <a:off x="179705" y="1124585"/>
            <a:ext cx="8884920" cy="2013585"/>
          </a:xfrm>
        </p:spPr>
        <p:txBody>
          <a:bodyPr/>
          <a:p>
            <a:pPr marL="0" indent="0">
              <a:buNone/>
            </a:pPr>
            <a:r>
              <a:rPr lang="en-US" altLang="zh-CN">
                <a:solidFill>
                  <a:srgbClr val="00B0F0"/>
                </a:solidFill>
                <a:latin typeface="Times New Roman" panose="02020603050405020304" charset="0"/>
                <a:cs typeface="Times New Roman" panose="02020603050405020304" charset="0"/>
              </a:rPr>
              <a:t>stage 2  human (P1)(offer at stage 1 rejected)</a:t>
            </a:r>
            <a:endParaRPr lang="en-US" altLang="zh-CN">
              <a:solidFill>
                <a:srgbClr val="00B0F0"/>
              </a:solidFill>
              <a:latin typeface="Times New Roman" panose="02020603050405020304" charset="0"/>
              <a:cs typeface="Times New Roman" panose="02020603050405020304" charset="0"/>
            </a:endParaRPr>
          </a:p>
          <a:p>
            <a:pPr marL="0" indent="0">
              <a:buNone/>
            </a:pPr>
            <a:endParaRPr lang="en-US" altLang="zh-CN">
              <a:latin typeface="Times New Roman" panose="02020603050405020304" charset="0"/>
              <a:cs typeface="Times New Roman" panose="02020603050405020304" charset="0"/>
            </a:endParaRPr>
          </a:p>
          <a:p>
            <a:pPr marL="0" indent="0">
              <a:buNone/>
            </a:pPr>
            <a:endParaRPr lang="en-US" altLang="zh-CN" sz="2800" b="1" i="1">
              <a:latin typeface="Times New Roman" panose="02020603050405020304" charset="0"/>
              <a:cs typeface="Times New Roman" panose="02020603050405020304" charset="0"/>
            </a:endParaRPr>
          </a:p>
        </p:txBody>
      </p:sp>
      <p:pic>
        <p:nvPicPr>
          <p:cNvPr id="3" name="图片 2"/>
          <p:cNvPicPr>
            <a:picLocks noChangeAspect="1"/>
          </p:cNvPicPr>
          <p:nvPr/>
        </p:nvPicPr>
        <p:blipFill>
          <a:blip r:embed="rId1"/>
          <a:stretch>
            <a:fillRect/>
          </a:stretch>
        </p:blipFill>
        <p:spPr>
          <a:xfrm>
            <a:off x="1548130" y="1772920"/>
            <a:ext cx="5791200" cy="4023995"/>
          </a:xfrm>
          <a:prstGeom prst="rect">
            <a:avLst/>
          </a:prstGeom>
        </p:spPr>
      </p:pic>
      <p:sp>
        <p:nvSpPr>
          <p:cNvPr id="7" name="文本框 6"/>
          <p:cNvSpPr txBox="1"/>
          <p:nvPr/>
        </p:nvSpPr>
        <p:spPr>
          <a:xfrm>
            <a:off x="1188085" y="5949315"/>
            <a:ext cx="8007350" cy="64516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T1 vs T3</a:t>
            </a:r>
            <a:r>
              <a:rPr lang="en-US" altLang="ja-JP">
                <a:latin typeface="Times New Roman" panose="02020603050405020304" charset="0"/>
                <a:cs typeface="Times New Roman" panose="02020603050405020304" charset="0"/>
              </a:rPr>
              <a:t>(AI)</a:t>
            </a:r>
            <a:r>
              <a:rPr lang="en-US" altLang="zh-CN">
                <a:latin typeface="Times New Roman" panose="02020603050405020304" charset="0"/>
                <a:cs typeface="Times New Roman" panose="02020603050405020304" charset="0"/>
              </a:rPr>
              <a:t>: OR = 1.45 , p-value = 0.76(Fisher’s exact test).</a:t>
            </a:r>
            <a:endParaRPr lang="en-US" altLang="zh-CN">
              <a:latin typeface="Times New Roman" panose="02020603050405020304" charset="0"/>
              <a:cs typeface="Times New Roman" panose="02020603050405020304" charset="0"/>
            </a:endParaRPr>
          </a:p>
          <a:p>
            <a:endParaRPr lang="en-US" altLang="zh-CN">
              <a:latin typeface="Times New Roman" panose="02020603050405020304" charset="0"/>
              <a:cs typeface="Times New Roman" panose="0202060305040502030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1691640" y="890905"/>
            <a:ext cx="5213350" cy="2820035"/>
          </a:xfrm>
          <a:prstGeom prst="rect">
            <a:avLst/>
          </a:prstGeom>
        </p:spPr>
      </p:pic>
      <p:pic>
        <p:nvPicPr>
          <p:cNvPr id="6" name="图片 5"/>
          <p:cNvPicPr>
            <a:picLocks noChangeAspect="1"/>
          </p:cNvPicPr>
          <p:nvPr/>
        </p:nvPicPr>
        <p:blipFill>
          <a:blip r:embed="rId2"/>
          <a:stretch>
            <a:fillRect/>
          </a:stretch>
        </p:blipFill>
        <p:spPr>
          <a:xfrm>
            <a:off x="1619885" y="3768090"/>
            <a:ext cx="5327650" cy="2925445"/>
          </a:xfrm>
          <a:prstGeom prst="rect">
            <a:avLst/>
          </a:prstGeom>
        </p:spPr>
      </p:pic>
      <p:sp>
        <p:nvSpPr>
          <p:cNvPr id="7" name="文本框 3"/>
          <p:cNvSpPr txBox="1"/>
          <p:nvPr/>
        </p:nvSpPr>
        <p:spPr>
          <a:xfrm>
            <a:off x="179388" y="188278"/>
            <a:ext cx="5046662" cy="645160"/>
          </a:xfrm>
          <a:prstGeom prst="rect">
            <a:avLst/>
          </a:prstGeom>
          <a:noFill/>
          <a:ln w="9525">
            <a:noFill/>
          </a:ln>
        </p:spPr>
        <p:txBody>
          <a:bodyPr wrap="square" anchor="t" anchorCtr="0">
            <a:spAutoFit/>
          </a:bodyPr>
          <a:p>
            <a:r>
              <a:rPr lang="en-US" altLang="zh-CN" sz="3600">
                <a:latin typeface="Times New Roman" panose="02020603050405020304" charset="0"/>
                <a:ea typeface="宋体" panose="02010600030101010101" pitchFamily="2" charset="-122"/>
              </a:rPr>
              <a:t>Regression</a:t>
            </a:r>
            <a:endParaRPr lang="en-US" altLang="zh-CN" sz="3600">
              <a:latin typeface="Times New Roman" panose="02020603050405020304" charset="0"/>
              <a:ea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文本框 3"/>
          <p:cNvSpPr txBox="1"/>
          <p:nvPr/>
        </p:nvSpPr>
        <p:spPr>
          <a:xfrm>
            <a:off x="179388" y="188278"/>
            <a:ext cx="5046662" cy="645160"/>
          </a:xfrm>
          <a:prstGeom prst="rect">
            <a:avLst/>
          </a:prstGeom>
          <a:noFill/>
          <a:ln w="9525">
            <a:noFill/>
          </a:ln>
        </p:spPr>
        <p:txBody>
          <a:bodyPr wrap="square" anchor="t" anchorCtr="0">
            <a:spAutoFit/>
          </a:bodyPr>
          <a:p>
            <a:r>
              <a:rPr lang="en-US" altLang="zh-CN" sz="3600">
                <a:latin typeface="Times New Roman" panose="02020603050405020304" charset="0"/>
                <a:ea typeface="宋体" panose="02010600030101010101" pitchFamily="2" charset="-122"/>
              </a:rPr>
              <a:t>Results</a:t>
            </a:r>
            <a:endParaRPr lang="en-US" altLang="zh-CN" sz="3600">
              <a:latin typeface="Times New Roman" panose="02020603050405020304" charset="0"/>
              <a:ea typeface="宋体" panose="02010600030101010101" pitchFamily="2" charset="-122"/>
            </a:endParaRPr>
          </a:p>
        </p:txBody>
      </p:sp>
      <p:sp>
        <p:nvSpPr>
          <p:cNvPr id="4" name="内容占位符 3"/>
          <p:cNvSpPr>
            <a:spLocks noGrp="1"/>
          </p:cNvSpPr>
          <p:nvPr>
            <p:ph idx="1"/>
          </p:nvPr>
        </p:nvSpPr>
        <p:spPr>
          <a:xfrm>
            <a:off x="251460" y="1557020"/>
            <a:ext cx="8229600" cy="4525963"/>
          </a:xfrm>
        </p:spPr>
        <p:txBody>
          <a:bodyPr/>
          <a:p>
            <a:pPr algn="just"/>
            <a:r>
              <a:rPr lang="en-US" altLang="zh-CN" sz="2400">
                <a:latin typeface="Times New Roman" panose="02020603050405020304" charset="0"/>
                <a:cs typeface="Times New Roman" panose="02020603050405020304" charset="0"/>
              </a:rPr>
              <a:t>In Stage 2, when humans are P1 (the responder), they still care about the offer amount. </a:t>
            </a:r>
            <a:endParaRPr lang="en-US" altLang="zh-CN" sz="2400">
              <a:latin typeface="Times New Roman" panose="02020603050405020304" charset="0"/>
              <a:cs typeface="Times New Roman" panose="02020603050405020304" charset="0"/>
            </a:endParaRPr>
          </a:p>
          <a:p>
            <a:pPr algn="just"/>
            <a:endParaRPr lang="en-US" altLang="zh-CN" sz="2400">
              <a:latin typeface="Times New Roman" panose="02020603050405020304" charset="0"/>
              <a:cs typeface="Times New Roman" panose="02020603050405020304" charset="0"/>
            </a:endParaRPr>
          </a:p>
          <a:p>
            <a:pPr algn="just"/>
            <a:r>
              <a:rPr lang="en-US" altLang="zh-CN" sz="2400">
                <a:latin typeface="Times New Roman" panose="02020603050405020304" charset="0"/>
                <a:cs typeface="Times New Roman" panose="02020603050405020304" charset="0"/>
              </a:rPr>
              <a:t>One possible explanation for the AI effect is that after having their Stage 1 offers rejected, participants may learn that the AI can reject offers and may care about fairness. As a result, they may be more willing to accept offers from the AI.</a:t>
            </a:r>
            <a:endParaRPr lang="en-US" altLang="zh-CN" sz="2400">
              <a:latin typeface="Times New Roman" panose="02020603050405020304" charset="0"/>
              <a:cs typeface="Times New Roman" panose="02020603050405020304" charset="0"/>
            </a:endParaRPr>
          </a:p>
          <a:p>
            <a:pPr algn="just"/>
            <a:endParaRPr lang="en-US" altLang="zh-CN" sz="2400">
              <a:latin typeface="Times New Roman" panose="02020603050405020304" charset="0"/>
              <a:cs typeface="Times New Roman" panose="0202060305040502030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文本框 3"/>
          <p:cNvSpPr txBox="1"/>
          <p:nvPr/>
        </p:nvSpPr>
        <p:spPr>
          <a:xfrm>
            <a:off x="179388" y="188278"/>
            <a:ext cx="5046662" cy="645160"/>
          </a:xfrm>
          <a:prstGeom prst="rect">
            <a:avLst/>
          </a:prstGeom>
          <a:noFill/>
          <a:ln w="9525">
            <a:noFill/>
          </a:ln>
        </p:spPr>
        <p:txBody>
          <a:bodyPr wrap="square" anchor="t" anchorCtr="0">
            <a:spAutoFit/>
          </a:bodyPr>
          <a:p>
            <a:r>
              <a:rPr lang="en-US" altLang="zh-CN" sz="3600">
                <a:latin typeface="Times New Roman" panose="02020603050405020304" charset="0"/>
                <a:ea typeface="宋体" panose="02010600030101010101" pitchFamily="2" charset="-122"/>
              </a:rPr>
              <a:t>Regression</a:t>
            </a:r>
            <a:endParaRPr lang="en-US" altLang="zh-CN" sz="3600">
              <a:latin typeface="Times New Roman" panose="02020603050405020304" charset="0"/>
              <a:ea typeface="宋体" panose="02010600030101010101" pitchFamily="2" charset="-122"/>
            </a:endParaRPr>
          </a:p>
        </p:txBody>
      </p:sp>
      <p:sp>
        <p:nvSpPr>
          <p:cNvPr id="4" name="内容占位符 3"/>
          <p:cNvSpPr>
            <a:spLocks noGrp="1"/>
          </p:cNvSpPr>
          <p:nvPr>
            <p:ph idx="1"/>
          </p:nvPr>
        </p:nvSpPr>
        <p:spPr>
          <a:xfrm>
            <a:off x="179705" y="1124585"/>
            <a:ext cx="8884920" cy="2013585"/>
          </a:xfrm>
        </p:spPr>
        <p:txBody>
          <a:bodyPr/>
          <a:p>
            <a:pPr marL="0" indent="0">
              <a:buNone/>
            </a:pPr>
            <a:r>
              <a:rPr lang="en-US" altLang="zh-CN">
                <a:solidFill>
                  <a:srgbClr val="00B0F0"/>
                </a:solidFill>
                <a:latin typeface="Times New Roman" panose="02020603050405020304" charset="0"/>
                <a:cs typeface="Times New Roman" panose="02020603050405020304" charset="0"/>
              </a:rPr>
              <a:t>stage 2  human (P2)(offer at stage 1 rejected)</a:t>
            </a:r>
            <a:endParaRPr lang="en-US" altLang="zh-CN">
              <a:solidFill>
                <a:srgbClr val="00B0F0"/>
              </a:solidFill>
              <a:latin typeface="Times New Roman" panose="02020603050405020304" charset="0"/>
              <a:cs typeface="Times New Roman" panose="02020603050405020304" charset="0"/>
            </a:endParaRPr>
          </a:p>
          <a:p>
            <a:pPr marL="0" indent="0">
              <a:buNone/>
            </a:pPr>
            <a:endParaRPr lang="en-US" altLang="zh-CN">
              <a:latin typeface="Times New Roman" panose="02020603050405020304" charset="0"/>
              <a:cs typeface="Times New Roman" panose="02020603050405020304" charset="0"/>
            </a:endParaRPr>
          </a:p>
          <a:p>
            <a:pPr marL="0" indent="0">
              <a:buNone/>
            </a:pPr>
            <a:endParaRPr lang="en-US" altLang="zh-CN" sz="2800" b="1" i="1">
              <a:latin typeface="Times New Roman" panose="02020603050405020304" charset="0"/>
              <a:cs typeface="Times New Roman" panose="02020603050405020304" charset="0"/>
            </a:endParaRPr>
          </a:p>
        </p:txBody>
      </p:sp>
      <p:pic>
        <p:nvPicPr>
          <p:cNvPr id="5" name="图片 4"/>
          <p:cNvPicPr>
            <a:picLocks noChangeAspect="1"/>
          </p:cNvPicPr>
          <p:nvPr/>
        </p:nvPicPr>
        <p:blipFill>
          <a:blip r:embed="rId1"/>
          <a:stretch>
            <a:fillRect/>
          </a:stretch>
        </p:blipFill>
        <p:spPr>
          <a:xfrm>
            <a:off x="1619885" y="1772920"/>
            <a:ext cx="5281295" cy="4225925"/>
          </a:xfrm>
          <a:prstGeom prst="rect">
            <a:avLst/>
          </a:prstGeom>
        </p:spPr>
      </p:pic>
      <p:sp>
        <p:nvSpPr>
          <p:cNvPr id="6" name="文本框 5"/>
          <p:cNvSpPr txBox="1"/>
          <p:nvPr/>
        </p:nvSpPr>
        <p:spPr>
          <a:xfrm>
            <a:off x="1403350" y="5900420"/>
            <a:ext cx="6777355" cy="1198880"/>
          </a:xfrm>
          <a:prstGeom prst="rect">
            <a:avLst/>
          </a:prstGeom>
          <a:noFill/>
        </p:spPr>
        <p:txBody>
          <a:bodyPr wrap="square" rtlCol="0">
            <a:spAutoFit/>
          </a:bodyPr>
          <a:p>
            <a:r>
              <a:rPr lang="en-US" altLang="zh-CN">
                <a:latin typeface="Times New Roman" panose="02020603050405020304" charset="0"/>
                <a:sym typeface="+mn-ea"/>
              </a:rPr>
              <a:t>• T1 vs T3 : KS D = 0.28571, p-value = 0.2759</a:t>
            </a:r>
            <a:endParaRPr lang="en-US" altLang="zh-CN">
              <a:latin typeface="Times New Roman" panose="02020603050405020304" charset="0"/>
              <a:sym typeface="+mn-ea"/>
            </a:endParaRPr>
          </a:p>
          <a:p>
            <a:endParaRPr lang="en-US" altLang="zh-CN">
              <a:latin typeface="Times New Roman" panose="02020603050405020304" charset="0"/>
              <a:sym typeface="+mn-ea"/>
            </a:endParaRPr>
          </a:p>
          <a:p>
            <a:r>
              <a:rPr lang="en-US" altLang="zh-CN">
                <a:latin typeface="Times New Roman" panose="02020603050405020304" charset="0"/>
                <a:sym typeface="+mn-ea"/>
              </a:rPr>
              <a:t>• </a:t>
            </a:r>
            <a:r>
              <a:rPr lang="en-US" altLang="zh-CN">
                <a:latin typeface="Times New Roman" panose="02020603050405020304" charset="0"/>
                <a:cs typeface="Times New Roman" panose="02020603050405020304" charset="0"/>
                <a:sym typeface="+mn-ea"/>
              </a:rPr>
              <a:t>T2 vs  T3:  KS </a:t>
            </a:r>
            <a:r>
              <a:rPr lang="en-US" altLang="zh-CN">
                <a:latin typeface="Times New Roman" panose="02020603050405020304" charset="0"/>
                <a:cs typeface="Times New Roman" panose="02020603050405020304" charset="0"/>
              </a:rPr>
              <a:t>D = 0.11485, p-value = 0.9382</a:t>
            </a:r>
            <a:endParaRPr lang="en-US" altLang="zh-CN">
              <a:latin typeface="Times New Roman" panose="02020603050405020304" charset="0"/>
              <a:cs typeface="Times New Roman" panose="02020603050405020304" charset="0"/>
            </a:endParaRPr>
          </a:p>
          <a:p>
            <a:endParaRPr lang="en-US" altLang="zh-CN">
              <a:latin typeface="Times New Roman" panose="02020603050405020304" charset="0"/>
              <a:cs typeface="Times New Roman" panose="0202060305040502030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3"/>
          <p:cNvSpPr txBox="1"/>
          <p:nvPr/>
        </p:nvSpPr>
        <p:spPr>
          <a:xfrm>
            <a:off x="179388" y="188278"/>
            <a:ext cx="5046662" cy="645160"/>
          </a:xfrm>
          <a:prstGeom prst="rect">
            <a:avLst/>
          </a:prstGeom>
          <a:noFill/>
          <a:ln w="9525">
            <a:noFill/>
          </a:ln>
        </p:spPr>
        <p:txBody>
          <a:bodyPr wrap="square" anchor="t" anchorCtr="0">
            <a:spAutoFit/>
          </a:bodyPr>
          <a:p>
            <a:r>
              <a:rPr lang="en-US" altLang="zh-CN" sz="3600">
                <a:latin typeface="Times New Roman" panose="02020603050405020304" charset="0"/>
                <a:ea typeface="宋体" panose="02010600030101010101" pitchFamily="2" charset="-122"/>
              </a:rPr>
              <a:t>Regression</a:t>
            </a:r>
            <a:endParaRPr lang="en-US" altLang="zh-CN" sz="3600">
              <a:latin typeface="Times New Roman" panose="02020603050405020304" charset="0"/>
              <a:ea typeface="宋体" panose="02010600030101010101" pitchFamily="2" charset="-122"/>
            </a:endParaRPr>
          </a:p>
        </p:txBody>
      </p:sp>
      <p:pic>
        <p:nvPicPr>
          <p:cNvPr id="2" name="图片 1"/>
          <p:cNvPicPr>
            <a:picLocks noChangeAspect="1"/>
          </p:cNvPicPr>
          <p:nvPr/>
        </p:nvPicPr>
        <p:blipFill>
          <a:blip r:embed="rId1"/>
          <a:stretch>
            <a:fillRect/>
          </a:stretch>
        </p:blipFill>
        <p:spPr>
          <a:xfrm>
            <a:off x="1475740" y="764540"/>
            <a:ext cx="5164455" cy="2777490"/>
          </a:xfrm>
          <a:prstGeom prst="rect">
            <a:avLst/>
          </a:prstGeom>
        </p:spPr>
      </p:pic>
      <p:pic>
        <p:nvPicPr>
          <p:cNvPr id="3" name="图片 2"/>
          <p:cNvPicPr>
            <a:picLocks noChangeAspect="1"/>
          </p:cNvPicPr>
          <p:nvPr/>
        </p:nvPicPr>
        <p:blipFill>
          <a:blip r:embed="rId2"/>
          <a:stretch>
            <a:fillRect/>
          </a:stretch>
        </p:blipFill>
        <p:spPr>
          <a:xfrm>
            <a:off x="1547495" y="3658870"/>
            <a:ext cx="5422900" cy="319913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323850" y="1988820"/>
            <a:ext cx="8229600" cy="4525963"/>
          </a:xfrm>
        </p:spPr>
        <p:txBody>
          <a:bodyPr/>
          <a:p>
            <a:pPr algn="just"/>
            <a:r>
              <a:rPr lang="en-US" altLang="zh-CN" sz="2400" b="1">
                <a:latin typeface="Times New Roman" panose="02020603050405020304" charset="0"/>
                <a:cs typeface="Times New Roman" panose="02020603050405020304" charset="0"/>
              </a:rPr>
              <a:t>In Stage 2, when humans are P2 (the proposer), we do not find clear evidence that facing an AI, or the AI payoff transfer condition, affects the offers humans make.</a:t>
            </a:r>
            <a:endParaRPr lang="en-US" altLang="zh-CN" sz="2400" b="1">
              <a:latin typeface="Times New Roman" panose="02020603050405020304" charset="0"/>
              <a:cs typeface="Times New Roman" panose="02020603050405020304" charset="0"/>
            </a:endParaRPr>
          </a:p>
          <a:p>
            <a:pPr algn="just"/>
            <a:endParaRPr lang="en-US" altLang="zh-CN" sz="2400" b="1">
              <a:latin typeface="Times New Roman" panose="02020603050405020304" charset="0"/>
              <a:cs typeface="Times New Roman" panose="02020603050405020304" charset="0"/>
            </a:endParaRPr>
          </a:p>
        </p:txBody>
      </p:sp>
      <p:sp>
        <p:nvSpPr>
          <p:cNvPr id="5121" name="文本框 3"/>
          <p:cNvSpPr txBox="1"/>
          <p:nvPr/>
        </p:nvSpPr>
        <p:spPr>
          <a:xfrm>
            <a:off x="179388" y="188278"/>
            <a:ext cx="5046662" cy="645160"/>
          </a:xfrm>
          <a:prstGeom prst="rect">
            <a:avLst/>
          </a:prstGeom>
          <a:noFill/>
          <a:ln w="9525">
            <a:noFill/>
          </a:ln>
        </p:spPr>
        <p:txBody>
          <a:bodyPr wrap="square" anchor="t" anchorCtr="0">
            <a:spAutoFit/>
          </a:bodyPr>
          <a:p>
            <a:r>
              <a:rPr lang="en-US" altLang="zh-CN" sz="3600">
                <a:latin typeface="Times New Roman" panose="02020603050405020304" charset="0"/>
                <a:ea typeface="宋体" panose="02010600030101010101" pitchFamily="2" charset="-122"/>
              </a:rPr>
              <a:t>Results</a:t>
            </a:r>
            <a:endParaRPr lang="en-US" altLang="zh-CN" sz="3600">
              <a:latin typeface="Times New Roman" panose="02020603050405020304" charset="0"/>
              <a:ea typeface="宋体" panose="02010600030101010101"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文本框 3"/>
          <p:cNvSpPr txBox="1"/>
          <p:nvPr/>
        </p:nvSpPr>
        <p:spPr>
          <a:xfrm>
            <a:off x="179388" y="188278"/>
            <a:ext cx="5046662" cy="645160"/>
          </a:xfrm>
          <a:prstGeom prst="rect">
            <a:avLst/>
          </a:prstGeom>
          <a:noFill/>
          <a:ln w="9525">
            <a:noFill/>
          </a:ln>
        </p:spPr>
        <p:txBody>
          <a:bodyPr wrap="square" anchor="t" anchorCtr="0">
            <a:spAutoFit/>
          </a:bodyPr>
          <a:p>
            <a:r>
              <a:rPr lang="en-US" altLang="zh-CN" sz="3600">
                <a:latin typeface="Times New Roman" panose="02020603050405020304" charset="0"/>
                <a:ea typeface="宋体" panose="02010600030101010101" pitchFamily="2" charset="-122"/>
              </a:rPr>
              <a:t>Regression</a:t>
            </a:r>
            <a:endParaRPr lang="en-US" altLang="zh-CN" sz="3600">
              <a:latin typeface="Times New Roman" panose="02020603050405020304" charset="0"/>
              <a:ea typeface="宋体" panose="02010600030101010101" pitchFamily="2" charset="-122"/>
            </a:endParaRPr>
          </a:p>
        </p:txBody>
      </p:sp>
      <p:sp>
        <p:nvSpPr>
          <p:cNvPr id="4" name="内容占位符 3"/>
          <p:cNvSpPr>
            <a:spLocks noGrp="1"/>
          </p:cNvSpPr>
          <p:nvPr>
            <p:ph idx="1"/>
          </p:nvPr>
        </p:nvSpPr>
        <p:spPr>
          <a:xfrm>
            <a:off x="179705" y="1124585"/>
            <a:ext cx="8884920" cy="2013585"/>
          </a:xfrm>
        </p:spPr>
        <p:txBody>
          <a:bodyPr/>
          <a:p>
            <a:pPr marL="0" indent="0">
              <a:buNone/>
            </a:pPr>
            <a:r>
              <a:rPr lang="en-US" altLang="zh-CN">
                <a:solidFill>
                  <a:srgbClr val="00B0F0"/>
                </a:solidFill>
                <a:latin typeface="Times New Roman" panose="02020603050405020304" charset="0"/>
                <a:cs typeface="Times New Roman" panose="02020603050405020304" charset="0"/>
              </a:rPr>
              <a:t>stage 3  human (P2)(offer at stage 2 rejected)</a:t>
            </a:r>
            <a:endParaRPr lang="en-US" altLang="zh-CN">
              <a:solidFill>
                <a:srgbClr val="00B0F0"/>
              </a:solidFill>
              <a:latin typeface="Times New Roman" panose="02020603050405020304" charset="0"/>
              <a:cs typeface="Times New Roman" panose="02020603050405020304" charset="0"/>
            </a:endParaRPr>
          </a:p>
          <a:p>
            <a:pPr marL="0" indent="0">
              <a:buNone/>
            </a:pPr>
            <a:endParaRPr lang="en-US" altLang="zh-CN">
              <a:latin typeface="Times New Roman" panose="02020603050405020304" charset="0"/>
              <a:cs typeface="Times New Roman" panose="02020603050405020304" charset="0"/>
            </a:endParaRPr>
          </a:p>
          <a:p>
            <a:pPr marL="0" indent="0">
              <a:buNone/>
            </a:pPr>
            <a:endParaRPr lang="en-US" altLang="zh-CN" sz="2800" b="1" i="1">
              <a:latin typeface="Times New Roman" panose="02020603050405020304" charset="0"/>
              <a:cs typeface="Times New Roman" panose="02020603050405020304" charset="0"/>
            </a:endParaRPr>
          </a:p>
        </p:txBody>
      </p:sp>
      <p:pic>
        <p:nvPicPr>
          <p:cNvPr id="3" name="图片 2"/>
          <p:cNvPicPr>
            <a:picLocks noChangeAspect="1"/>
          </p:cNvPicPr>
          <p:nvPr/>
        </p:nvPicPr>
        <p:blipFill>
          <a:blip r:embed="rId1"/>
          <a:stretch>
            <a:fillRect/>
          </a:stretch>
        </p:blipFill>
        <p:spPr>
          <a:xfrm>
            <a:off x="1188085" y="1772920"/>
            <a:ext cx="5894705" cy="4054475"/>
          </a:xfrm>
          <a:prstGeom prst="rect">
            <a:avLst/>
          </a:prstGeom>
        </p:spPr>
      </p:pic>
      <p:sp>
        <p:nvSpPr>
          <p:cNvPr id="7" name="文本框 6"/>
          <p:cNvSpPr txBox="1"/>
          <p:nvPr/>
        </p:nvSpPr>
        <p:spPr>
          <a:xfrm>
            <a:off x="1188085" y="5949315"/>
            <a:ext cx="8007350" cy="1753235"/>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T1 vs T3</a:t>
            </a:r>
            <a:r>
              <a:rPr lang="en-US" altLang="ja-JP">
                <a:latin typeface="Times New Roman" panose="02020603050405020304" charset="0"/>
                <a:cs typeface="Times New Roman" panose="02020603050405020304" charset="0"/>
              </a:rPr>
              <a:t>(AI)</a:t>
            </a:r>
            <a:r>
              <a:rPr lang="en-US" altLang="zh-CN">
                <a:latin typeface="Times New Roman" panose="02020603050405020304" charset="0"/>
                <a:cs typeface="Times New Roman" panose="02020603050405020304" charset="0"/>
              </a:rPr>
              <a:t>: OR = 3.8 , p-value = 0.21(Fisher’s exact test).</a:t>
            </a:r>
            <a:endParaRPr lang="en-US" altLang="zh-CN">
              <a:latin typeface="Times New Roman" panose="02020603050405020304" charset="0"/>
              <a:cs typeface="Times New Roman" panose="02020603050405020304" charset="0"/>
            </a:endParaRPr>
          </a:p>
          <a:p>
            <a:endParaRPr lang="en-US" altLang="zh-CN">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sym typeface="+mn-ea"/>
              </a:rPr>
              <a:t>T2 vs T3</a:t>
            </a:r>
            <a:r>
              <a:rPr lang="en-US" altLang="ja-JP">
                <a:latin typeface="Times New Roman" panose="02020603050405020304" charset="0"/>
                <a:cs typeface="Times New Roman" panose="02020603050405020304" charset="0"/>
                <a:sym typeface="+mn-ea"/>
              </a:rPr>
              <a:t>(AI)</a:t>
            </a:r>
            <a:r>
              <a:rPr lang="en-US" altLang="zh-CN">
                <a:latin typeface="Times New Roman" panose="02020603050405020304" charset="0"/>
                <a:cs typeface="Times New Roman" panose="02020603050405020304" charset="0"/>
                <a:sym typeface="+mn-ea"/>
              </a:rPr>
              <a:t>: OR =  2.3 , p-value = 0.42(Fisher’s exact test).</a:t>
            </a:r>
            <a:endParaRPr lang="en-US" altLang="zh-CN">
              <a:latin typeface="Times New Roman" panose="02020603050405020304" charset="0"/>
              <a:cs typeface="Times New Roman" panose="02020603050405020304" charset="0"/>
            </a:endParaRPr>
          </a:p>
          <a:p>
            <a:endParaRPr lang="en-US" altLang="zh-CN">
              <a:latin typeface="Times New Roman" panose="02020603050405020304" charset="0"/>
              <a:cs typeface="Times New Roman" panose="02020603050405020304" charset="0"/>
            </a:endParaRPr>
          </a:p>
          <a:p>
            <a:endParaRPr lang="en-US" altLang="zh-CN">
              <a:latin typeface="Times New Roman" panose="02020603050405020304" charset="0"/>
              <a:cs typeface="Times New Roman" panose="02020603050405020304" charset="0"/>
            </a:endParaRPr>
          </a:p>
          <a:p>
            <a:endParaRPr lang="en-US" altLang="zh-CN">
              <a:latin typeface="Times New Roman" panose="02020603050405020304" charset="0"/>
              <a:cs typeface="Times New Roman" panose="0202060305040502030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文本框 3"/>
          <p:cNvSpPr txBox="1"/>
          <p:nvPr/>
        </p:nvSpPr>
        <p:spPr>
          <a:xfrm>
            <a:off x="179388" y="188278"/>
            <a:ext cx="5046662" cy="645160"/>
          </a:xfrm>
          <a:prstGeom prst="rect">
            <a:avLst/>
          </a:prstGeom>
          <a:noFill/>
          <a:ln w="9525">
            <a:noFill/>
          </a:ln>
        </p:spPr>
        <p:txBody>
          <a:bodyPr wrap="square" anchor="t" anchorCtr="0">
            <a:spAutoFit/>
          </a:bodyPr>
          <a:p>
            <a:r>
              <a:rPr lang="en-US" altLang="zh-CN" sz="3600">
                <a:latin typeface="Times New Roman" panose="02020603050405020304" charset="0"/>
                <a:ea typeface="宋体" panose="02010600030101010101" pitchFamily="2" charset="-122"/>
              </a:rPr>
              <a:t>Regression</a:t>
            </a:r>
            <a:endParaRPr lang="en-US" altLang="zh-CN" sz="3600">
              <a:latin typeface="Times New Roman" panose="02020603050405020304" charset="0"/>
              <a:ea typeface="宋体" panose="02010600030101010101" pitchFamily="2" charset="-122"/>
            </a:endParaRPr>
          </a:p>
        </p:txBody>
      </p:sp>
      <p:sp>
        <p:nvSpPr>
          <p:cNvPr id="4" name="内容占位符 3"/>
          <p:cNvSpPr>
            <a:spLocks noGrp="1"/>
          </p:cNvSpPr>
          <p:nvPr>
            <p:ph idx="1"/>
          </p:nvPr>
        </p:nvSpPr>
        <p:spPr>
          <a:xfrm>
            <a:off x="179705" y="1124585"/>
            <a:ext cx="8884920" cy="2013585"/>
          </a:xfrm>
        </p:spPr>
        <p:txBody>
          <a:bodyPr/>
          <a:p>
            <a:pPr marL="0" indent="0">
              <a:buNone/>
            </a:pPr>
            <a:r>
              <a:rPr lang="en-US" altLang="zh-CN">
                <a:solidFill>
                  <a:srgbClr val="00B0F0"/>
                </a:solidFill>
                <a:latin typeface="Times New Roman" panose="02020603050405020304" charset="0"/>
                <a:cs typeface="Times New Roman" panose="02020603050405020304" charset="0"/>
              </a:rPr>
              <a:t>stage 3  human (P1)(offer at stage 2 rejected)</a:t>
            </a:r>
            <a:endParaRPr lang="en-US" altLang="zh-CN">
              <a:solidFill>
                <a:srgbClr val="00B0F0"/>
              </a:solidFill>
              <a:latin typeface="Times New Roman" panose="02020603050405020304" charset="0"/>
              <a:cs typeface="Times New Roman" panose="02020603050405020304" charset="0"/>
            </a:endParaRPr>
          </a:p>
          <a:p>
            <a:pPr marL="0" indent="0">
              <a:buNone/>
            </a:pPr>
            <a:endParaRPr lang="en-US" altLang="zh-CN">
              <a:latin typeface="Times New Roman" panose="02020603050405020304" charset="0"/>
              <a:cs typeface="Times New Roman" panose="02020603050405020304" charset="0"/>
            </a:endParaRPr>
          </a:p>
          <a:p>
            <a:pPr marL="0" indent="0">
              <a:buNone/>
            </a:pPr>
            <a:endParaRPr lang="en-US" altLang="zh-CN" sz="2800" b="1" i="1">
              <a:latin typeface="Times New Roman" panose="02020603050405020304" charset="0"/>
              <a:cs typeface="Times New Roman" panose="02020603050405020304" charset="0"/>
            </a:endParaRPr>
          </a:p>
        </p:txBody>
      </p:sp>
      <p:sp>
        <p:nvSpPr>
          <p:cNvPr id="6" name="文本框 5"/>
          <p:cNvSpPr txBox="1"/>
          <p:nvPr/>
        </p:nvSpPr>
        <p:spPr>
          <a:xfrm>
            <a:off x="1403350" y="5900420"/>
            <a:ext cx="6777355" cy="1198880"/>
          </a:xfrm>
          <a:prstGeom prst="rect">
            <a:avLst/>
          </a:prstGeom>
          <a:noFill/>
        </p:spPr>
        <p:txBody>
          <a:bodyPr wrap="square" rtlCol="0">
            <a:spAutoFit/>
          </a:bodyPr>
          <a:p>
            <a:r>
              <a:rPr lang="en-US" altLang="zh-CN" sz="1800">
                <a:latin typeface="Times New Roman" panose="02020603050405020304" charset="0"/>
                <a:sym typeface="+mn-ea"/>
              </a:rPr>
              <a:t>• T1 vs T3 : KS D = 0.42342, p-value = 0.05544</a:t>
            </a:r>
            <a:endParaRPr lang="en-US" altLang="zh-CN" sz="1800">
              <a:latin typeface="Times New Roman" panose="02020603050405020304" charset="0"/>
              <a:sym typeface="+mn-ea"/>
            </a:endParaRPr>
          </a:p>
          <a:p>
            <a:endParaRPr lang="en-US" altLang="zh-CN" sz="1800">
              <a:latin typeface="Times New Roman" panose="02020603050405020304" charset="0"/>
              <a:sym typeface="+mn-ea"/>
            </a:endParaRPr>
          </a:p>
          <a:p>
            <a:r>
              <a:rPr lang="en-US" altLang="zh-CN" sz="1800">
                <a:latin typeface="Times New Roman" panose="02020603050405020304" charset="0"/>
                <a:sym typeface="+mn-ea"/>
              </a:rPr>
              <a:t>• </a:t>
            </a:r>
            <a:r>
              <a:rPr lang="en-US" altLang="zh-CN" sz="1800">
                <a:latin typeface="Times New Roman" panose="02020603050405020304" charset="0"/>
                <a:cs typeface="Times New Roman" panose="02020603050405020304" charset="0"/>
                <a:sym typeface="+mn-ea"/>
              </a:rPr>
              <a:t>T2 vs  T3:  KS </a:t>
            </a:r>
            <a:r>
              <a:rPr lang="en-US" altLang="zh-CN" sz="1800">
                <a:latin typeface="Times New Roman" panose="02020603050405020304" charset="0"/>
                <a:cs typeface="Times New Roman" panose="02020603050405020304" charset="0"/>
              </a:rPr>
              <a:t>D = 0.18457, p-value = 0.3071</a:t>
            </a:r>
            <a:endParaRPr lang="en-US" altLang="zh-CN" sz="1800">
              <a:latin typeface="Times New Roman" panose="02020603050405020304" charset="0"/>
              <a:cs typeface="Times New Roman" panose="02020603050405020304" charset="0"/>
            </a:endParaRPr>
          </a:p>
          <a:p>
            <a:endParaRPr lang="en-US" altLang="zh-CN" sz="1800">
              <a:latin typeface="Times New Roman" panose="02020603050405020304" charset="0"/>
              <a:cs typeface="Times New Roman" panose="02020603050405020304" charset="0"/>
            </a:endParaRPr>
          </a:p>
        </p:txBody>
      </p:sp>
      <p:pic>
        <p:nvPicPr>
          <p:cNvPr id="2" name="图片 1"/>
          <p:cNvPicPr>
            <a:picLocks noChangeAspect="1"/>
          </p:cNvPicPr>
          <p:nvPr/>
        </p:nvPicPr>
        <p:blipFill>
          <a:blip r:embed="rId1"/>
          <a:stretch>
            <a:fillRect/>
          </a:stretch>
        </p:blipFill>
        <p:spPr>
          <a:xfrm>
            <a:off x="1403350" y="1844675"/>
            <a:ext cx="4878070" cy="401447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文本框 3"/>
          <p:cNvSpPr txBox="1"/>
          <p:nvPr/>
        </p:nvSpPr>
        <p:spPr>
          <a:xfrm>
            <a:off x="179388" y="188278"/>
            <a:ext cx="5046662" cy="645160"/>
          </a:xfrm>
          <a:prstGeom prst="rect">
            <a:avLst/>
          </a:prstGeom>
          <a:noFill/>
          <a:ln w="9525">
            <a:noFill/>
          </a:ln>
        </p:spPr>
        <p:txBody>
          <a:bodyPr wrap="square" anchor="t" anchorCtr="0">
            <a:spAutoFit/>
          </a:bodyPr>
          <a:p>
            <a:r>
              <a:rPr lang="en-US" altLang="zh-CN" sz="3600">
                <a:latin typeface="Times New Roman" panose="02020603050405020304" charset="0"/>
                <a:ea typeface="宋体" panose="02010600030101010101" pitchFamily="2" charset="-122"/>
              </a:rPr>
              <a:t>Regression</a:t>
            </a:r>
            <a:endParaRPr lang="en-US" altLang="zh-CN" sz="3600">
              <a:latin typeface="Times New Roman" panose="02020603050405020304" charset="0"/>
              <a:ea typeface="宋体" panose="02010600030101010101" pitchFamily="2" charset="-122"/>
            </a:endParaRPr>
          </a:p>
        </p:txBody>
      </p:sp>
      <p:pic>
        <p:nvPicPr>
          <p:cNvPr id="4" name="图片 3" descr="2"/>
          <p:cNvPicPr>
            <a:picLocks noChangeAspect="1"/>
          </p:cNvPicPr>
          <p:nvPr/>
        </p:nvPicPr>
        <p:blipFill>
          <a:blip r:embed="rId1"/>
          <a:stretch>
            <a:fillRect/>
          </a:stretch>
        </p:blipFill>
        <p:spPr>
          <a:xfrm>
            <a:off x="683895" y="1700530"/>
            <a:ext cx="6568440" cy="387096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文本框 3"/>
          <p:cNvSpPr txBox="1"/>
          <p:nvPr/>
        </p:nvSpPr>
        <p:spPr>
          <a:xfrm>
            <a:off x="179388" y="188278"/>
            <a:ext cx="5046662" cy="645160"/>
          </a:xfrm>
          <a:prstGeom prst="rect">
            <a:avLst/>
          </a:prstGeom>
          <a:noFill/>
          <a:ln w="9525">
            <a:noFill/>
          </a:ln>
        </p:spPr>
        <p:txBody>
          <a:bodyPr wrap="square" anchor="t" anchorCtr="0">
            <a:spAutoFit/>
          </a:bodyPr>
          <a:p>
            <a:r>
              <a:rPr lang="en-US" altLang="zh-CN" sz="3600">
                <a:latin typeface="Times New Roman" panose="02020603050405020304" charset="0"/>
                <a:ea typeface="宋体" panose="02010600030101010101" pitchFamily="2" charset="-122"/>
              </a:rPr>
              <a:t>Regression</a:t>
            </a:r>
            <a:endParaRPr lang="en-US" altLang="zh-CN" sz="3600">
              <a:latin typeface="Times New Roman" panose="02020603050405020304" charset="0"/>
              <a:ea typeface="宋体" panose="02010600030101010101" pitchFamily="2" charset="-122"/>
            </a:endParaRPr>
          </a:p>
        </p:txBody>
      </p:sp>
      <p:pic>
        <p:nvPicPr>
          <p:cNvPr id="2" name="图片 1" descr="3"/>
          <p:cNvPicPr>
            <a:picLocks noChangeAspect="1"/>
          </p:cNvPicPr>
          <p:nvPr/>
        </p:nvPicPr>
        <p:blipFill>
          <a:blip r:embed="rId1"/>
          <a:stretch>
            <a:fillRect/>
          </a:stretch>
        </p:blipFill>
        <p:spPr>
          <a:xfrm>
            <a:off x="35560" y="1628775"/>
            <a:ext cx="6026150" cy="3551555"/>
          </a:xfrm>
          <a:prstGeom prst="rect">
            <a:avLst/>
          </a:prstGeom>
        </p:spPr>
      </p:pic>
      <p:pic>
        <p:nvPicPr>
          <p:cNvPr id="5" name="图片 4" descr="5"/>
          <p:cNvPicPr>
            <a:picLocks noChangeAspect="1"/>
          </p:cNvPicPr>
          <p:nvPr/>
        </p:nvPicPr>
        <p:blipFill>
          <a:blip r:embed="rId2"/>
          <a:srcRect l="25880" t="1640" r="24787" b="9072"/>
          <a:stretch>
            <a:fillRect/>
          </a:stretch>
        </p:blipFill>
        <p:spPr>
          <a:xfrm>
            <a:off x="6156325" y="620395"/>
            <a:ext cx="2926715" cy="3121660"/>
          </a:xfrm>
          <a:prstGeom prst="rect">
            <a:avLst/>
          </a:prstGeom>
        </p:spPr>
      </p:pic>
      <p:pic>
        <p:nvPicPr>
          <p:cNvPr id="6" name="图片 5" descr="6"/>
          <p:cNvPicPr>
            <a:picLocks noChangeAspect="1"/>
          </p:cNvPicPr>
          <p:nvPr/>
        </p:nvPicPr>
        <p:blipFill>
          <a:blip r:embed="rId3"/>
          <a:srcRect l="24787" t="-230" r="23685" b="7218"/>
          <a:stretch>
            <a:fillRect/>
          </a:stretch>
        </p:blipFill>
        <p:spPr>
          <a:xfrm>
            <a:off x="6219825" y="3717290"/>
            <a:ext cx="2863215" cy="304609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文本框 3"/>
          <p:cNvSpPr txBox="1"/>
          <p:nvPr/>
        </p:nvSpPr>
        <p:spPr>
          <a:xfrm>
            <a:off x="179388" y="188278"/>
            <a:ext cx="5046662" cy="645160"/>
          </a:xfrm>
          <a:prstGeom prst="rect">
            <a:avLst/>
          </a:prstGeom>
          <a:noFill/>
          <a:ln w="9525">
            <a:noFill/>
          </a:ln>
        </p:spPr>
        <p:txBody>
          <a:bodyPr wrap="square" anchor="t" anchorCtr="0">
            <a:spAutoFit/>
          </a:bodyPr>
          <a:p>
            <a:r>
              <a:rPr lang="en-US" altLang="zh-CN" sz="3600">
                <a:latin typeface="Times New Roman" panose="02020603050405020304" charset="0"/>
                <a:ea typeface="宋体" panose="02010600030101010101" pitchFamily="2" charset="-122"/>
              </a:rPr>
              <a:t>Regression</a:t>
            </a:r>
            <a:endParaRPr lang="en-US" altLang="zh-CN" sz="3600">
              <a:latin typeface="Times New Roman" panose="02020603050405020304" charset="0"/>
              <a:ea typeface="宋体" panose="02010600030101010101" pitchFamily="2" charset="-122"/>
            </a:endParaRPr>
          </a:p>
        </p:txBody>
      </p:sp>
      <p:pic>
        <p:nvPicPr>
          <p:cNvPr id="3" name="图片 2" descr="4"/>
          <p:cNvPicPr>
            <a:picLocks noChangeAspect="1"/>
          </p:cNvPicPr>
          <p:nvPr/>
        </p:nvPicPr>
        <p:blipFill>
          <a:blip r:embed="rId1"/>
          <a:stretch>
            <a:fillRect/>
          </a:stretch>
        </p:blipFill>
        <p:spPr>
          <a:xfrm>
            <a:off x="0" y="1340485"/>
            <a:ext cx="6048375" cy="3564890"/>
          </a:xfrm>
          <a:prstGeom prst="rect">
            <a:avLst/>
          </a:prstGeom>
        </p:spPr>
      </p:pic>
      <p:pic>
        <p:nvPicPr>
          <p:cNvPr id="4" name="图片 3" descr="11"/>
          <p:cNvPicPr>
            <a:picLocks noChangeAspect="1"/>
          </p:cNvPicPr>
          <p:nvPr/>
        </p:nvPicPr>
        <p:blipFill>
          <a:blip r:embed="rId2"/>
          <a:srcRect l="22593" t="-230" r="22593" b="7218"/>
          <a:stretch>
            <a:fillRect/>
          </a:stretch>
        </p:blipFill>
        <p:spPr>
          <a:xfrm>
            <a:off x="6207760" y="3429000"/>
            <a:ext cx="2902585" cy="2902585"/>
          </a:xfrm>
          <a:prstGeom prst="rect">
            <a:avLst/>
          </a:prstGeom>
        </p:spPr>
      </p:pic>
      <p:pic>
        <p:nvPicPr>
          <p:cNvPr id="7" name="图片 6" descr="13"/>
          <p:cNvPicPr>
            <a:picLocks noChangeAspect="1"/>
          </p:cNvPicPr>
          <p:nvPr/>
        </p:nvPicPr>
        <p:blipFill>
          <a:blip r:embed="rId3"/>
          <a:srcRect l="22602" t="-230" r="26972" b="9072"/>
          <a:stretch>
            <a:fillRect/>
          </a:stretch>
        </p:blipFill>
        <p:spPr>
          <a:xfrm>
            <a:off x="6084570" y="332740"/>
            <a:ext cx="2873375" cy="306133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文本框 3"/>
          <p:cNvSpPr txBox="1"/>
          <p:nvPr/>
        </p:nvSpPr>
        <p:spPr>
          <a:xfrm>
            <a:off x="179388" y="188278"/>
            <a:ext cx="5046662" cy="645160"/>
          </a:xfrm>
          <a:prstGeom prst="rect">
            <a:avLst/>
          </a:prstGeom>
          <a:noFill/>
          <a:ln w="9525">
            <a:noFill/>
          </a:ln>
        </p:spPr>
        <p:txBody>
          <a:bodyPr wrap="square" anchor="t" anchorCtr="0">
            <a:spAutoFit/>
          </a:bodyPr>
          <a:p>
            <a:r>
              <a:rPr lang="en-US" altLang="zh-CN" sz="3600">
                <a:latin typeface="Times New Roman" panose="02020603050405020304" charset="0"/>
                <a:ea typeface="宋体" panose="02010600030101010101" pitchFamily="2" charset="-122"/>
              </a:rPr>
              <a:t>Results</a:t>
            </a:r>
            <a:endParaRPr lang="en-US" altLang="zh-CN" sz="3600">
              <a:latin typeface="Times New Roman" panose="02020603050405020304" charset="0"/>
              <a:ea typeface="宋体" panose="02010600030101010101" pitchFamily="2" charset="-122"/>
            </a:endParaRPr>
          </a:p>
        </p:txBody>
      </p:sp>
      <p:sp>
        <p:nvSpPr>
          <p:cNvPr id="4" name="内容占位符 3"/>
          <p:cNvSpPr>
            <a:spLocks noGrp="1"/>
          </p:cNvSpPr>
          <p:nvPr>
            <p:ph idx="1"/>
          </p:nvPr>
        </p:nvSpPr>
        <p:spPr>
          <a:xfrm>
            <a:off x="323850" y="1628775"/>
            <a:ext cx="8229600" cy="4525963"/>
          </a:xfrm>
        </p:spPr>
        <p:txBody>
          <a:bodyPr/>
          <a:p>
            <a:pPr algn="just"/>
            <a:r>
              <a:rPr lang="en-US" altLang="zh-CN" sz="2400" b="1">
                <a:latin typeface="Times New Roman" panose="02020603050405020304" charset="0"/>
                <a:cs typeface="Times New Roman" panose="02020603050405020304" charset="0"/>
              </a:rPr>
              <a:t>In Stage 3, when humans are P1 (the proposer), their offers tend to be lower. In contrast, when the AI is P1, it tends to make more generous offers to humans.</a:t>
            </a:r>
            <a:endParaRPr lang="en-US" altLang="zh-CN" sz="2400" b="1">
              <a:latin typeface="Times New Roman" panose="02020603050405020304" charset="0"/>
              <a:cs typeface="Times New Roman" panose="02020603050405020304" charset="0"/>
            </a:endParaRPr>
          </a:p>
          <a:p>
            <a:pPr algn="just"/>
            <a:endParaRPr lang="en-US" altLang="zh-CN" sz="2400" b="1">
              <a:latin typeface="Times New Roman" panose="02020603050405020304" charset="0"/>
              <a:cs typeface="Times New Roman" panose="02020603050405020304" charset="0"/>
            </a:endParaRPr>
          </a:p>
          <a:p>
            <a:pPr algn="just"/>
            <a:r>
              <a:rPr lang="en-US" altLang="zh-CN" sz="2400" b="1">
                <a:latin typeface="Times New Roman" panose="02020603050405020304" charset="0"/>
                <a:cs typeface="Times New Roman" panose="02020603050405020304" charset="0"/>
              </a:rPr>
              <a:t>When humans are P2, whether they accept an offer seems to depend mainly on the offer amount.</a:t>
            </a:r>
            <a:endParaRPr lang="en-US" altLang="zh-CN" sz="2400" b="1">
              <a:latin typeface="Times New Roman" panose="02020603050405020304" charset="0"/>
              <a:cs typeface="Times New Roman" panose="02020603050405020304" charset="0"/>
            </a:endParaRPr>
          </a:p>
          <a:p>
            <a:pPr algn="just"/>
            <a:endParaRPr lang="en-US" altLang="zh-CN" sz="2400" b="1">
              <a:latin typeface="Times New Roman" panose="02020603050405020304" charset="0"/>
              <a:cs typeface="Times New Roman" panose="0202060305040502030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文本框 3"/>
          <p:cNvSpPr txBox="1"/>
          <p:nvPr/>
        </p:nvSpPr>
        <p:spPr>
          <a:xfrm>
            <a:off x="179388" y="188278"/>
            <a:ext cx="5046662" cy="645160"/>
          </a:xfrm>
          <a:prstGeom prst="rect">
            <a:avLst/>
          </a:prstGeom>
          <a:noFill/>
          <a:ln w="9525">
            <a:noFill/>
          </a:ln>
        </p:spPr>
        <p:txBody>
          <a:bodyPr wrap="square" anchor="t" anchorCtr="0">
            <a:spAutoFit/>
          </a:bodyPr>
          <a:p>
            <a:r>
              <a:rPr lang="en-US" altLang="zh-CN" sz="3600">
                <a:latin typeface="Times New Roman" panose="02020603050405020304" charset="0"/>
                <a:ea typeface="宋体" panose="02010600030101010101" pitchFamily="2" charset="-122"/>
              </a:rPr>
              <a:t>Transfer</a:t>
            </a:r>
            <a:endParaRPr lang="en-US" altLang="zh-CN" sz="3600">
              <a:latin typeface="Times New Roman" panose="02020603050405020304" charset="0"/>
              <a:ea typeface="宋体" panose="02010600030101010101" pitchFamily="2" charset="-122"/>
            </a:endParaRPr>
          </a:p>
        </p:txBody>
      </p:sp>
      <p:sp>
        <p:nvSpPr>
          <p:cNvPr id="4" name="文本框 3"/>
          <p:cNvSpPr txBox="1"/>
          <p:nvPr/>
        </p:nvSpPr>
        <p:spPr>
          <a:xfrm>
            <a:off x="395605" y="2204720"/>
            <a:ext cx="7867650" cy="1938020"/>
          </a:xfrm>
          <a:prstGeom prst="rect">
            <a:avLst/>
          </a:prstGeom>
          <a:noFill/>
        </p:spPr>
        <p:txBody>
          <a:bodyPr wrap="square" rtlCol="0">
            <a:spAutoFit/>
          </a:bodyPr>
          <a:p>
            <a:pPr algn="just"/>
            <a:r>
              <a:rPr lang="en-US" altLang="zh-CN" sz="2000" b="1">
                <a:latin typeface="Times New Roman" panose="02020603050405020304" charset="0"/>
                <a:cs typeface="Times New Roman" panose="02020603050405020304" charset="0"/>
              </a:rPr>
              <a:t>One possible reason why the Transfer variable is often not significant :</a:t>
            </a:r>
            <a:endParaRPr lang="en-US" altLang="zh-CN" sz="2000" b="1">
              <a:latin typeface="Times New Roman" panose="02020603050405020304" charset="0"/>
              <a:cs typeface="Times New Roman" panose="02020603050405020304" charset="0"/>
            </a:endParaRPr>
          </a:p>
          <a:p>
            <a:pPr algn="just"/>
            <a:endParaRPr lang="en-US" altLang="zh-CN" sz="2000" b="1">
              <a:latin typeface="Times New Roman" panose="02020603050405020304" charset="0"/>
              <a:cs typeface="Times New Roman" panose="02020603050405020304" charset="0"/>
            </a:endParaRPr>
          </a:p>
          <a:p>
            <a:pPr algn="just"/>
            <a:r>
              <a:rPr lang="en-US" altLang="zh-CN" sz="2000" b="1">
                <a:latin typeface="Times New Roman" panose="02020603050405020304" charset="0"/>
                <a:cs typeface="Times New Roman" panose="02020603050405020304" charset="0"/>
              </a:rPr>
              <a:t> we only told T2 participants there were two payoff calculation methods, but did not clearly tell them that their bargaining could affect other players’ earnings.</a:t>
            </a:r>
            <a:endParaRPr lang="en-US" altLang="zh-CN" sz="2000" b="1">
              <a:latin typeface="Times New Roman" panose="02020603050405020304" charset="0"/>
              <a:cs typeface="Times New Roman" panose="02020603050405020304" charset="0"/>
            </a:endParaRPr>
          </a:p>
          <a:p>
            <a:pPr algn="just"/>
            <a:endParaRPr lang="en-US" altLang="zh-CN" sz="2000" b="1">
              <a:latin typeface="Times New Roman" panose="02020603050405020304" charset="0"/>
              <a:cs typeface="Times New Roman" panose="0202060305040502030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文本框 3"/>
          <p:cNvSpPr txBox="1"/>
          <p:nvPr/>
        </p:nvSpPr>
        <p:spPr>
          <a:xfrm>
            <a:off x="179388" y="188278"/>
            <a:ext cx="5046662" cy="645160"/>
          </a:xfrm>
          <a:prstGeom prst="rect">
            <a:avLst/>
          </a:prstGeom>
          <a:noFill/>
          <a:ln w="9525">
            <a:noFill/>
          </a:ln>
        </p:spPr>
        <p:txBody>
          <a:bodyPr wrap="square" anchor="t" anchorCtr="0">
            <a:spAutoFit/>
          </a:bodyPr>
          <a:p>
            <a:r>
              <a:rPr lang="en-US" altLang="zh-CN" sz="3600">
                <a:latin typeface="Times New Roman" panose="02020603050405020304" charset="0"/>
                <a:ea typeface="宋体" panose="02010600030101010101" pitchFamily="2" charset="-122"/>
              </a:rPr>
              <a:t>Other  </a:t>
            </a:r>
            <a:r>
              <a:rPr lang="en-US" altLang="zh-CN" sz="3600">
                <a:latin typeface="Times New Roman" panose="02020603050405020304" charset="0"/>
                <a:ea typeface="宋体" panose="02010600030101010101" pitchFamily="2" charset="-122"/>
              </a:rPr>
              <a:t>Findings</a:t>
            </a:r>
            <a:endParaRPr lang="en-US" altLang="zh-CN" sz="3600">
              <a:latin typeface="Times New Roman" panose="02020603050405020304" charset="0"/>
              <a:ea typeface="宋体" panose="02010600030101010101" pitchFamily="2" charset="-122"/>
            </a:endParaRPr>
          </a:p>
        </p:txBody>
      </p:sp>
      <p:sp>
        <p:nvSpPr>
          <p:cNvPr id="4" name="文本框 3"/>
          <p:cNvSpPr txBox="1"/>
          <p:nvPr/>
        </p:nvSpPr>
        <p:spPr>
          <a:xfrm>
            <a:off x="1691640" y="1340485"/>
            <a:ext cx="5485130" cy="368300"/>
          </a:xfrm>
          <a:prstGeom prst="rect">
            <a:avLst/>
          </a:prstGeom>
          <a:noFill/>
        </p:spPr>
        <p:txBody>
          <a:bodyPr wrap="square" rtlCol="0">
            <a:spAutoFit/>
          </a:bodyPr>
          <a:p>
            <a:pPr algn="ctr"/>
            <a:r>
              <a:rPr lang="en-US" altLang="zh-CN" b="1"/>
              <a:t>Punishment Behavior</a:t>
            </a:r>
            <a:endParaRPr lang="en-US" altLang="zh-CN" b="1"/>
          </a:p>
        </p:txBody>
      </p:sp>
      <p:sp>
        <p:nvSpPr>
          <p:cNvPr id="5" name="文本框 4"/>
          <p:cNvSpPr txBox="1"/>
          <p:nvPr/>
        </p:nvSpPr>
        <p:spPr>
          <a:xfrm>
            <a:off x="462280" y="2037715"/>
            <a:ext cx="7926070" cy="1198880"/>
          </a:xfrm>
          <a:prstGeom prst="rect">
            <a:avLst/>
          </a:prstGeom>
          <a:noFill/>
        </p:spPr>
        <p:txBody>
          <a:bodyPr wrap="square" rtlCol="0">
            <a:spAutoFit/>
          </a:bodyPr>
          <a:p>
            <a:pPr algn="just"/>
            <a:r>
              <a:rPr lang="en-US" altLang="zh-CN">
                <a:latin typeface="Times New Roman" panose="02020603050405020304" charset="0"/>
                <a:cs typeface="Times New Roman" panose="02020603050405020304" charset="0"/>
              </a:rPr>
              <a:t>In Stage 2, we examine how humans behave as P2 after receiving an unfair offer (below 40) as P1—specifically, what offer they make to the opponent. We have 39 observations.</a:t>
            </a:r>
            <a:endParaRPr lang="en-US" altLang="zh-CN">
              <a:latin typeface="Times New Roman" panose="02020603050405020304" charset="0"/>
              <a:cs typeface="Times New Roman" panose="02020603050405020304" charset="0"/>
            </a:endParaRPr>
          </a:p>
          <a:p>
            <a:pPr algn="just"/>
            <a:endParaRPr lang="en-US" altLang="zh-CN">
              <a:latin typeface="Times New Roman" panose="02020603050405020304" charset="0"/>
              <a:cs typeface="Times New Roman" panose="02020603050405020304" charset="0"/>
            </a:endParaRPr>
          </a:p>
        </p:txBody>
      </p:sp>
      <p:sp>
        <p:nvSpPr>
          <p:cNvPr id="6" name="文本框 5"/>
          <p:cNvSpPr txBox="1"/>
          <p:nvPr/>
        </p:nvSpPr>
        <p:spPr>
          <a:xfrm>
            <a:off x="1329055" y="3068955"/>
            <a:ext cx="6485890" cy="2306955"/>
          </a:xfrm>
          <a:prstGeom prst="rect">
            <a:avLst/>
          </a:prstGeom>
          <a:noFill/>
        </p:spPr>
        <p:txBody>
          <a:bodyPr wrap="square" rtlCol="0">
            <a:spAutoFit/>
          </a:bodyPr>
          <a:p>
            <a:pPr algn="just"/>
            <a:r>
              <a:rPr lang="en-US" altLang="zh-CN" b="1">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rPr>
              <a:t>In T1, 50% of participants (5/10) chose to retaliate against an unequal offer.</a:t>
            </a:r>
            <a:endParaRPr lang="en-US" altLang="zh-CN">
              <a:latin typeface="Times New Roman" panose="02020603050405020304" charset="0"/>
              <a:cs typeface="Times New Roman" panose="02020603050405020304" charset="0"/>
            </a:endParaRPr>
          </a:p>
          <a:p>
            <a:pPr algn="just"/>
            <a:endParaRPr lang="en-US" altLang="zh-CN">
              <a:latin typeface="Times New Roman" panose="02020603050405020304" charset="0"/>
              <a:cs typeface="Times New Roman" panose="02020603050405020304" charset="0"/>
            </a:endParaRPr>
          </a:p>
          <a:p>
            <a:pPr algn="just"/>
            <a:r>
              <a:rPr lang="en-US" altLang="zh-CN" b="1">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In T2, 50% of participants (6/12) chose to retaliate against an unequal offer.</a:t>
            </a:r>
            <a:endParaRPr lang="en-US" altLang="zh-CN">
              <a:latin typeface="Times New Roman" panose="02020603050405020304" charset="0"/>
              <a:cs typeface="Times New Roman" panose="02020603050405020304" charset="0"/>
            </a:endParaRPr>
          </a:p>
          <a:p>
            <a:pPr algn="just"/>
            <a:endParaRPr lang="en-US" altLang="zh-CN">
              <a:latin typeface="Times New Roman" panose="02020603050405020304" charset="0"/>
              <a:cs typeface="Times New Roman" panose="02020603050405020304" charset="0"/>
            </a:endParaRPr>
          </a:p>
          <a:p>
            <a:pPr algn="just"/>
            <a:r>
              <a:rPr lang="en-US" altLang="zh-CN" b="1">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In T3, 47% of participants (8/17) chose to retaliate against an unequal offer.</a:t>
            </a:r>
            <a:endParaRPr lang="en-US" altLang="zh-CN">
              <a:latin typeface="Times New Roman" panose="02020603050405020304" charset="0"/>
              <a:cs typeface="Times New Roman" panose="02020603050405020304" charset="0"/>
            </a:endParaRPr>
          </a:p>
        </p:txBody>
      </p:sp>
      <p:sp>
        <p:nvSpPr>
          <p:cNvPr id="7" name="文本框 6"/>
          <p:cNvSpPr txBox="1"/>
          <p:nvPr/>
        </p:nvSpPr>
        <p:spPr>
          <a:xfrm>
            <a:off x="421640" y="5589270"/>
            <a:ext cx="8110855" cy="1198880"/>
          </a:xfrm>
          <a:prstGeom prst="rect">
            <a:avLst/>
          </a:prstGeom>
          <a:noFill/>
        </p:spPr>
        <p:txBody>
          <a:bodyPr wrap="square" rtlCol="0">
            <a:spAutoFit/>
          </a:bodyPr>
          <a:p>
            <a:pPr algn="just"/>
            <a:r>
              <a:rPr lang="en-US" altLang="zh-CN" b="1">
                <a:latin typeface="Times New Roman" panose="02020603050405020304" charset="0"/>
                <a:cs typeface="Times New Roman" panose="02020603050405020304" charset="0"/>
              </a:rPr>
              <a:t>Among the </a:t>
            </a:r>
            <a:r>
              <a:rPr lang="en-US" altLang="zh-CN" b="1">
                <a:latin typeface="Times New Roman" panose="02020603050405020304" charset="0"/>
                <a:cs typeface="Times New Roman" panose="02020603050405020304" charset="0"/>
              </a:rPr>
              <a:t>subjects who chose to retaliate against an unequal offer, 42%</a:t>
            </a:r>
            <a:r>
              <a:rPr lang="en-US" altLang="ja-JP" b="1">
                <a:latin typeface="Times New Roman" panose="02020603050405020304" charset="0"/>
                <a:cs typeface="Times New Roman" panose="02020603050405020304" charset="0"/>
              </a:rPr>
              <a:t>(8/17)</a:t>
            </a:r>
            <a:r>
              <a:rPr lang="en-US" altLang="zh-CN" b="1">
                <a:latin typeface="Times New Roman" panose="02020603050405020304" charset="0"/>
                <a:cs typeface="Times New Roman" panose="02020603050405020304" charset="0"/>
              </a:rPr>
              <a:t> ended up with fewer discounted points than the points they were offered in Stage 1.</a:t>
            </a:r>
            <a:endParaRPr lang="en-US" altLang="zh-CN" b="1">
              <a:latin typeface="Times New Roman" panose="02020603050405020304" charset="0"/>
              <a:cs typeface="Times New Roman" panose="02020603050405020304" charset="0"/>
            </a:endParaRPr>
          </a:p>
          <a:p>
            <a:pPr algn="just"/>
            <a:endParaRPr lang="en-US" altLang="zh-CN" b="1">
              <a:latin typeface="Times New Roman" panose="02020603050405020304" charset="0"/>
              <a:cs typeface="Times New Roman" panose="0202060305040502030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23850" y="2420303"/>
            <a:ext cx="8229600" cy="1143000"/>
          </a:xfrm>
        </p:spPr>
        <p:txBody>
          <a:bodyPr/>
          <a:p>
            <a:r>
              <a:rPr lang="en-US" altLang="zh-CN"/>
              <a:t>Thank You !</a:t>
            </a:r>
            <a:endParaRPr lang="en-US" altLang="zh-CN"/>
          </a:p>
        </p:txBody>
      </p:sp>
    </p:spTree>
  </p:cSld>
  <p:clrMapOvr>
    <a:masterClrMapping/>
  </p:clrMapOvr>
</p:sld>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7587</Words>
  <Application>WPS 演示</Application>
  <PresentationFormat/>
  <Paragraphs>304</Paragraphs>
  <Slides>36</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36</vt:i4>
      </vt:variant>
    </vt:vector>
  </HeadingPairs>
  <TitlesOfParts>
    <vt:vector size="45" baseType="lpstr">
      <vt:lpstr>Arial</vt:lpstr>
      <vt:lpstr>宋体</vt:lpstr>
      <vt:lpstr>Wingdings</vt:lpstr>
      <vt:lpstr>Times New Roman</vt:lpstr>
      <vt:lpstr>Calibri</vt:lpstr>
      <vt:lpstr>微软雅黑</vt:lpstr>
      <vt:lpstr>Arial Unicode MS</vt:lpstr>
      <vt:lpstr>默认设计模板</vt:lpstr>
      <vt:lpstr>1_默认设计模板</vt:lpstr>
      <vt:lpstr>Bargaining with GPT in Alternating-Offer Games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Bargaining with GPT in Alternating-Offer Games</dc:title>
  <dc:creator>hxqdhqi hxqdhqi</dc:creator>
  <cp:lastModifiedBy>熊大</cp:lastModifiedBy>
  <cp:revision>13</cp:revision>
  <dcterms:created xsi:type="dcterms:W3CDTF">2025-12-12T05:51:00Z</dcterms:created>
  <dcterms:modified xsi:type="dcterms:W3CDTF">2025-12-13T13:59:28Z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2389F007EEE349E893E06461FD523A1C_12</vt:lpwstr>
  </property>
</Properties>
</file>